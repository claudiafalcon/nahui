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Buenas tardes, soy Claudia y esto es Nahui.</a:t>
            </a:r>
          </a:p>
          <a:p/>
          <a:p>
            <a:r>
              <a:t>Nahui es una app de registro de ventas e inteligencia de negocio para vendedoras ambulantes en México. La piloteamos con Ana, que vende ropa en bazares privados en el Estado de México.</a:t>
            </a:r>
          </a:p>
          <a:p/>
          <a:p>
            <a:r>
              <a:t>La promesa es simple: registrar una venta en menos de 3 segundos, sin perder el control del negocio. Les voy a enseñar qué tan real es esto hoy, y qué tan lejos estamos todavía.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problema no es abstracto, es el de Ana. En un bazar el flujo de clientes es impredecible. Si registrar una venta le toma más de unos segundos, ese tiempo compite directamente con atender al cliente que sigue, y casi siempre pierde el registro, no el cliente.</a:t>
            </a:r>
          </a:p>
          <a:p/>
          <a:p>
            <a:r>
              <a:t>Esa fricción no es exclusiva de Ana, se repite en cualquier vendedora que atiende de pie, sin caja registradora, sin tiempo muerto entre un cliente y el siguiente.</a:t>
            </a:r>
          </a:p>
          <a:p/>
          <a:p>
            <a:r>
              <a:t>Por eso Ana limita su propio catálogo, para mantener control mental de lo que tiene. Y eso limita cuánto puede crecer.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Esto que ven aquí no es un mockup, es el prototipo real, funcionando, probado con Ana en persona. Este es el estado inicial: venta rápida, con las categorías que ella misma usa, playeras y blusas.</a:t>
            </a:r>
          </a:p>
          <a:p/>
          <a:p>
            <a:r>
              <a:t>Así se registra una venta. Un toque por producto. El total se arma solo, en el momento exacto de la venta, sin que Ana tenga que hacer cuentas ni pausar para anotar nada.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 aquí queda guardada. Recibo digital, venta finalizada, total confirmado. Nunca más se pierde el registro de una venta, aunque llegue el siguiente cliente sin avisar, que es exactamente lo que pasa todo el tiempo en un bazar real.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es la diapositiva más difícil de todas, y también la más útil.</a:t>
            </a:r>
          </a:p>
          <a:p/>
          <a:p>
            <a:r>
              <a:t>Corrimos una campaña real de Meta del 17 al 20 de agosto, tres días, 569 pesos gastados, 731 visitas a la página a 78 centavos cada una. El alcance funciona, y es barato.</a:t>
            </a:r>
          </a:p>
          <a:p/>
          <a:p>
            <a:r>
              <a:t>Pero Vercel confirmó algo distinto: 583 visitantes reales llegaron al sitio, y solo 2 de ellos dispararon algún evento del recorrido del demo, registro, verificación, cuestionario. Eso es 0.34 por ciento.</a:t>
            </a:r>
          </a:p>
          <a:p/>
          <a:p>
            <a:r>
              <a:t>No lo descubrimos el primer día de campaña. La instrumentación para medir esto se terminó de construir a mitad del camino. De esos 583, solamente 227 llegaron ya con el recorrido completo midiéndose. Y ni siquiera con eso, la aguja se movió. El alcance no es el problema. La adopción real, todavía no la tenemos resuelta, y la causa exacta, todavía no está confirmada.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Ahora quiero hablarles de algo muy concreto: cuánto cuesta esto en realidad, y qué tan lista está la base técnica.</a:t>
            </a:r>
          </a:p>
          <a:p/>
          <a:p>
            <a:r>
              <a:t>El modelo de dominio ya está congelado, ventas, productos, sesiones, eventos, negocio, no hay nada nuevo que inventar, solo persistirlo en una base real. La infraestructura ya está decidida: React y TypeScript en Vercel, con Supabase de backend, un solo proveedor en vez de varios, justo para esta escala de piloto. El NFC, que era mi mayor duda técnica, también quedó resuelto: en Android funciona directo dentro de la misma aplicación, y en iOS lo resolví con un shell nativo delgado, solo para esa función, no una segunda app completa. Lo que le importa a Ana, nunca tener que comprar un lector aparte, queda cubierto en los dos casos.</a:t>
            </a:r>
          </a:p>
          <a:p/>
          <a:p>
            <a:r>
              <a:t>Y los números que sí duelen un poco: hasta hoy he invertido, en un solo pago, unos 626 pesos. La herramienta con la que construyo junto a mi equipo de agentes cuesta 100 dólares al mes, cerca de 1,850 pesos, gasto real y recurrente. Operar esto en producción me costaría alrededor de 830 pesos al mes, todavía una cotización, no un gasto real. Y el costo por venta registrada, calculado sobre un supuesto de tres comerciantes y 180 ventas al mes, ronda los 3.90 pesos, un número que no he validado con datos reales todavía. Lo que no les puedo dar hoy es un retorno esperado, porque no tengo un precio decidido, solo principios: sin comisión por transacción, precio fijo o estacional.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 ahora la pregunta que cualquier panel debería hacerme: qué puede detener esto.</a:t>
            </a:r>
          </a:p>
          <a:p/>
          <a:p>
            <a:r>
              <a:t>Tengo cinco riesgos identificados, y se los doy tal como los clasifiqué, sin suavizarlos. Depender de un solo proveedor de infraestructura, Supabase y Vercel, probabilidad alta, impacto alto. Exponer datos sensibles de comerciantes o de sus clientes, hoy la probabilidad es baja porque no hay datos reales en producción, pero el impacto sigue siendo alto. Que la adopción real no se confirme, y este es el que ya está pasando, alta probabilidad, alto impacto. No tener todavía un modelo de precios decidido, media a alta. Y, mirando más adelante, sesgo en las recomendaciones que Nahui algún día haga de forma proactiva, hoy es baja probabilidad porque esa función ni siquiera existe todavía, pero el impacto sería alto.</a:t>
            </a:r>
          </a:p>
          <a:p/>
          <a:p>
            <a:r>
              <a:t>Cada uno de estos ya tiene quién lo levanta y cómo se traduce en acción. La exposición de datos la resuelve un aviso de privacidad explícito antes de recolectar cualquier dato, con asesoría legal real. La dependencia de un solo proveedor se resuelve exportando los datos periódicamente antes de comprometerme más allá del piloto. El precio sin decidir se resuelve investigando precios comparables de otras herramientas para pequeños comerciantes en México. Y la adopción no confirmada, ese no es un bloqueo externo, me toca resolverlo a mí, y el piloto Concierge que les mencioné es justo esa respuesta, ya en marcha.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Nahui no la construyo yo sola escribiendo código. La construye un equipo de agentes de inteligencia artificial especializados, no una sola IA generalista.</a:t>
            </a:r>
          </a:p>
          <a:p/>
          <a:p>
            <a:r>
              <a:t>Cada uno tiene una sola función y su propio límite de autoridad. Architect solo lee y opina sobre el modelo del negocio. Ux-designer y ui-designer diseñan y construyen. Ux-critic y reviewer revisan antes de que algo se dé por bueno.</a:t>
            </a:r>
          </a:p>
          <a:p/>
          <a:p>
            <a:r>
              <a:t>Y merchant-user-tester, el más importante de todos para mí, no tiene acceso a ningún archivo del proyecto, solo puede navegar el producto como lo haría una vendedora real que nunca lo ha visto. Main coordina y persiste todo esto, pero nunca decide en lugar de los demás.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Nada en Nahui se da por cerrado sin comprobarlo contra el producto real. Diseñamos, revisamos, construimos, y ahí es donde entra lo que de verdad importa: el hallazgo real. No una suposición, un hallazgo real, de una prueba con Ana o de una campaña de verdad.</a:t>
            </a:r>
          </a:p>
          <a:p/>
          <a:p>
            <a:r>
              <a:t>Ese hallazgo dispara una corrección, y la corrección se vuelve a validar contra el producto real antes de darse por cerrada. Nunca se confía sin comprobar.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línea de tiempo no es una lista de entregables. Cada punto existe porque resolvió un problema real que apareció en el camino, no porque estuviera planeado desde el inicio.</a:t>
            </a:r>
          </a:p>
          <a:p/>
          <a:p>
            <a:r>
              <a:t>Y aquí quiero ser clara sobre algo: no soy experta en sistemas agénticos de inteligencia artificial, no sé optimizar el consumo de tokens con precisión técnica. Varias decisiones técnicas del camino tampoco las tomé sola, cambié de herramienta de diseño por recomendación directa de la maestra, y usar un equipo de agentes especializados en vez de una sola IA generalista fue algo que ella mencionó como mejor práctica. Entender cómo funciona realmente de fondo lo aprendí después, trabajando con mi propio equipo.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Esto es Nahui hoy: un prototipo real, funcionando, probado, con una campaña real detrás que nos enseñó que el alcance no es el problema, la adopción sí, y que esa lección la aprendimos a mitad de camino, no de entrada. Y un equipo de agentes que revisa, corrige y vuelve a comprobar cada cosa antes de darla por buena.</a:t>
            </a:r>
          </a:p>
          <a:p/>
          <a:p>
            <a:r>
              <a:t>Todavía no lo tenemos todo resuelto, y está bien decirlo así, con esas palabras exactas. Ahí les dejo el demo y el repositorio, ambos están en el documento que les compartí. Gracias.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C13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377440"/>
            <a:ext cx="10515600" cy="1463040"/>
          </a:xfrm>
          <a:prstGeom prst="rect">
            <a:avLst/>
          </a:prstGeom>
          <a:noFill/>
        </p:spPr>
        <p:txBody>
          <a:bodyPr wrap="square" anchor="t" lIns="0" rIns="0" tIns="0" bIns="0">
            <a:spAutoFit/>
          </a:bodyPr>
          <a:lstStyle/>
          <a:p>
            <a:pPr algn="l">
              <a:spcBef>
                <a:spcPts val="0"/>
              </a:spcBef>
              <a:spcAft>
                <a:spcPts val="0"/>
              </a:spcAft>
            </a:pPr>
            <a:r>
              <a:rPr sz="9600" b="1" i="0">
                <a:solidFill>
                  <a:srgbClr val="FFFFFF"/>
                </a:solidFill>
                <a:latin typeface="Fredoka"/>
              </a:rPr>
              <a:t>Nahui</a:t>
            </a:r>
          </a:p>
        </p:txBody>
      </p:sp>
      <p:sp>
        <p:nvSpPr>
          <p:cNvPr id="4" name="TextBox 3"/>
          <p:cNvSpPr txBox="1"/>
          <p:nvPr/>
        </p:nvSpPr>
        <p:spPr>
          <a:xfrm>
            <a:off x="868680" y="3794760"/>
            <a:ext cx="8686800" cy="914400"/>
          </a:xfrm>
          <a:prstGeom prst="rect">
            <a:avLst/>
          </a:prstGeom>
          <a:noFill/>
        </p:spPr>
        <p:txBody>
          <a:bodyPr wrap="square" anchor="t" lIns="0" rIns="0" tIns="0" bIns="0">
            <a:spAutoFit/>
          </a:bodyPr>
          <a:lstStyle/>
          <a:p>
            <a:pPr algn="l">
              <a:lnSpc>
                <a:spcPct val="115000"/>
              </a:lnSpc>
              <a:spcBef>
                <a:spcPts val="0"/>
              </a:spcBef>
              <a:spcAft>
                <a:spcPts val="0"/>
              </a:spcAft>
            </a:pPr>
            <a:r>
              <a:rPr sz="2200" b="0" i="0">
                <a:solidFill>
                  <a:srgbClr val="FFFFFF"/>
                </a:solidFill>
                <a:latin typeface="Inter"/>
              </a:rPr>
              <a:t>El registro de una venta, en menos de 3 segundos, sin perder al siguiente cliente.</a:t>
            </a:r>
          </a:p>
        </p:txBody>
      </p:sp>
      <p:sp>
        <p:nvSpPr>
          <p:cNvPr id="5" name="TextBox 4"/>
          <p:cNvSpPr txBox="1"/>
          <p:nvPr/>
        </p:nvSpPr>
        <p:spPr>
          <a:xfrm>
            <a:off x="868680" y="6126480"/>
            <a:ext cx="7315200" cy="457200"/>
          </a:xfrm>
          <a:prstGeom prst="rect">
            <a:avLst/>
          </a:prstGeom>
          <a:noFill/>
        </p:spPr>
        <p:txBody>
          <a:bodyPr wrap="square" anchor="t" lIns="0" rIns="0" tIns="0" bIns="0">
            <a:spAutoFit/>
          </a:bodyPr>
          <a:lstStyle/>
          <a:p>
            <a:pPr algn="l">
              <a:spcBef>
                <a:spcPts val="0"/>
              </a:spcBef>
              <a:spcAft>
                <a:spcPts val="0"/>
              </a:spcAft>
            </a:pPr>
            <a:r>
              <a:rPr sz="1400" b="0" i="0">
                <a:solidFill>
                  <a:srgbClr val="F3D9D1"/>
                </a:solidFill>
                <a:latin typeface="Inter"/>
              </a:rPr>
              <a:t>Claudia Falcón · Demo Day · TI-4041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414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005840"/>
            <a:ext cx="10500000" cy="2194560"/>
          </a:xfrm>
          <a:prstGeom prst="rect">
            <a:avLst/>
          </a:prstGeom>
          <a:noFill/>
        </p:spPr>
        <p:txBody>
          <a:bodyPr wrap="square" anchor="t" lIns="0" rIns="0" tIns="0" bIns="0">
            <a:spAutoFit/>
          </a:bodyPr>
          <a:lstStyle/>
          <a:p>
            <a:pPr algn="l">
              <a:lnSpc>
                <a:spcPct val="102000"/>
              </a:lnSpc>
              <a:spcBef>
                <a:spcPts val="0"/>
              </a:spcBef>
              <a:spcAft>
                <a:spcPts val="0"/>
              </a:spcAft>
            </a:pPr>
            <a:r>
              <a:rPr sz="6000" b="1" i="0">
                <a:solidFill>
                  <a:srgbClr val="FFFFFF"/>
                </a:solidFill>
                <a:latin typeface="Fredoka"/>
              </a:rPr>
              <a:t>El registro le cuesta la</a:t>
            </a:r>
          </a:p>
          <a:p>
            <a:pPr algn="l">
              <a:lnSpc>
                <a:spcPct val="102000"/>
              </a:lnSpc>
              <a:spcBef>
                <a:spcPts val="0"/>
              </a:spcBef>
              <a:spcAft>
                <a:spcPts val="0"/>
              </a:spcAft>
            </a:pPr>
            <a:r>
              <a:rPr sz="6000" b="1" i="0">
                <a:solidFill>
                  <a:srgbClr val="FFFFFF"/>
                </a:solidFill>
                <a:latin typeface="Fredoka"/>
              </a:rPr>
              <a:t>siguiente venta.</a:t>
            </a:r>
          </a:p>
        </p:txBody>
      </p:sp>
      <p:sp>
        <p:nvSpPr>
          <p:cNvPr id="4" name="TextBox 3"/>
          <p:cNvSpPr txBox="1"/>
          <p:nvPr/>
        </p:nvSpPr>
        <p:spPr>
          <a:xfrm>
            <a:off x="868680" y="3931920"/>
            <a:ext cx="9000000" cy="1280160"/>
          </a:xfrm>
          <a:prstGeom prst="rect">
            <a:avLst/>
          </a:prstGeom>
          <a:noFill/>
        </p:spPr>
        <p:txBody>
          <a:bodyPr wrap="square" anchor="t" lIns="0" rIns="0" tIns="0" bIns="0">
            <a:spAutoFit/>
          </a:bodyPr>
          <a:lstStyle/>
          <a:p>
            <a:pPr algn="l">
              <a:lnSpc>
                <a:spcPct val="125000"/>
              </a:lnSpc>
              <a:spcBef>
                <a:spcPts val="0"/>
              </a:spcBef>
              <a:spcAft>
                <a:spcPts val="0"/>
              </a:spcAft>
            </a:pPr>
            <a:r>
              <a:rPr sz="2000" b="0" i="0">
                <a:solidFill>
                  <a:srgbClr val="C7C5C0"/>
                </a:solidFill>
                <a:latin typeface="Inter"/>
              </a:rPr>
              <a:t>Flujo de clientes impredecible. Un registro de más de unos segundos compite directamente con atender a quien llega después, y siempre gana la siguiente venta.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11480"/>
            <a:ext cx="10546080" cy="1400000"/>
          </a:xfrm>
          <a:prstGeom prst="rect">
            <a:avLst/>
          </a:prstGeom>
          <a:noFill/>
        </p:spPr>
        <p:txBody>
          <a:bodyPr wrap="square" anchor="t" lIns="0" rIns="0" tIns="0" bIns="0">
            <a:spAutoFit/>
          </a:bodyPr>
          <a:lstStyle/>
          <a:p>
            <a:pPr algn="l">
              <a:lnSpc>
                <a:spcPct val="104000"/>
              </a:lnSpc>
              <a:spcBef>
                <a:spcPts val="0"/>
              </a:spcBef>
              <a:spcAft>
                <a:spcPts val="0"/>
              </a:spcAft>
            </a:pPr>
            <a:r>
              <a:rPr sz="4400" b="1" i="0">
                <a:solidFill>
                  <a:srgbClr val="141413"/>
                </a:solidFill>
                <a:latin typeface="Fredoka"/>
              </a:rPr>
              <a:t>Así se ve hoy,</a:t>
            </a:r>
          </a:p>
          <a:p>
            <a:pPr algn="l">
              <a:lnSpc>
                <a:spcPct val="104000"/>
              </a:lnSpc>
              <a:spcBef>
                <a:spcPts val="0"/>
              </a:spcBef>
              <a:spcAft>
                <a:spcPts val="0"/>
              </a:spcAft>
            </a:pPr>
            <a:r>
              <a:rPr sz="4400" b="1" i="0">
                <a:solidFill>
                  <a:srgbClr val="141413"/>
                </a:solidFill>
                <a:latin typeface="Fredoka"/>
              </a:rPr>
              <a:t>y en menos de 3 segundos.</a:t>
            </a:r>
          </a:p>
        </p:txBody>
      </p:sp>
      <p:sp>
        <p:nvSpPr>
          <p:cNvPr id="4" name="TextBox 3"/>
          <p:cNvSpPr txBox="1"/>
          <p:nvPr/>
        </p:nvSpPr>
        <p:spPr>
          <a:xfrm>
            <a:off x="868680" y="1800000"/>
            <a:ext cx="10230000" cy="500000"/>
          </a:xfrm>
          <a:prstGeom prst="rect">
            <a:avLst/>
          </a:prstGeom>
          <a:noFill/>
        </p:spPr>
        <p:txBody>
          <a:bodyPr wrap="square" anchor="t" lIns="0" rIns="0" tIns="0" bIns="0">
            <a:spAutoFit/>
          </a:bodyPr>
          <a:lstStyle/>
          <a:p>
            <a:pPr algn="l">
              <a:lnSpc>
                <a:spcPct val="120000"/>
              </a:lnSpc>
              <a:spcBef>
                <a:spcPts val="0"/>
              </a:spcBef>
              <a:spcAft>
                <a:spcPts val="0"/>
              </a:spcAft>
            </a:pPr>
            <a:r>
              <a:rPr sz="1600" b="0" i="0">
                <a:solidFill>
                  <a:srgbClr val="6B6B67"/>
                </a:solidFill>
                <a:latin typeface="Inter"/>
              </a:rPr>
              <a:t>Prototipo real, funcional, probado con Ana. Un toque por producto: el total se arma solo, en el momento exacto de la venta.</a:t>
            </a:r>
          </a:p>
        </p:txBody>
      </p:sp>
      <p:sp>
        <p:nvSpPr>
          <p:cNvPr id="5" name="TextBox 4"/>
          <p:cNvSpPr txBox="1"/>
          <p:nvPr/>
        </p:nvSpPr>
        <p:spPr>
          <a:xfrm>
            <a:off x="822960" y="2540000"/>
            <a:ext cx="4498217" cy="280000"/>
          </a:xfrm>
          <a:prstGeom prst="rect">
            <a:avLst/>
          </a:prstGeom>
          <a:noFill/>
        </p:spPr>
        <p:txBody>
          <a:bodyPr wrap="square" anchor="t" lIns="0" rIns="0" tIns="0" bIns="0">
            <a:spAutoFit/>
          </a:bodyPr>
          <a:lstStyle/>
          <a:p>
            <a:pPr algn="ctr">
              <a:spcBef>
                <a:spcPts val="0"/>
              </a:spcBef>
              <a:spcAft>
                <a:spcPts val="0"/>
              </a:spcAft>
            </a:pPr>
            <a:r>
              <a:rPr sz="1300" b="1" i="0">
                <a:solidFill>
                  <a:srgbClr val="C13F26"/>
                </a:solidFill>
                <a:latin typeface="Inter"/>
              </a:rPr>
              <a:t>A N T E S</a:t>
            </a:r>
          </a:p>
        </p:txBody>
      </p:sp>
      <p:sp>
        <p:nvSpPr>
          <p:cNvPr id="6" name="TextBox 5"/>
          <p:cNvSpPr txBox="1"/>
          <p:nvPr/>
        </p:nvSpPr>
        <p:spPr>
          <a:xfrm>
            <a:off x="5971177" y="2540000"/>
            <a:ext cx="5397860" cy="280000"/>
          </a:xfrm>
          <a:prstGeom prst="rect">
            <a:avLst/>
          </a:prstGeom>
          <a:noFill/>
        </p:spPr>
        <p:txBody>
          <a:bodyPr wrap="square" anchor="t" lIns="0" rIns="0" tIns="0" bIns="0">
            <a:spAutoFit/>
          </a:bodyPr>
          <a:lstStyle/>
          <a:p>
            <a:pPr algn="ctr">
              <a:spcBef>
                <a:spcPts val="0"/>
              </a:spcBef>
              <a:spcAft>
                <a:spcPts val="0"/>
              </a:spcAft>
            </a:pPr>
            <a:r>
              <a:rPr sz="1300" b="1" i="0">
                <a:solidFill>
                  <a:srgbClr val="C13F26"/>
                </a:solidFill>
                <a:latin typeface="Inter"/>
              </a:rPr>
              <a:t>D E S P U É S</a:t>
            </a:r>
          </a:p>
        </p:txBody>
      </p:sp>
      <p:pic>
        <p:nvPicPr>
          <p:cNvPr id="7" name="Picture 6" descr="slide3-home-crop.png"/>
          <p:cNvPicPr>
            <a:picLocks noChangeAspect="1"/>
          </p:cNvPicPr>
          <p:nvPr/>
        </p:nvPicPr>
        <p:blipFill>
          <a:blip r:embed="rId2"/>
          <a:stretch>
            <a:fillRect/>
          </a:stretch>
        </p:blipFill>
        <p:spPr>
          <a:xfrm>
            <a:off x="822960" y="2860000"/>
            <a:ext cx="4498217" cy="3138291"/>
          </a:xfrm>
          <a:prstGeom prst="rect">
            <a:avLst/>
          </a:prstGeom>
          <a:effectLst>
            <a:outerShdw blurRad="90000" dist="30000" dir="5400000" rotWithShape="0">
              <a:srgbClr val="000000">
                <a:alpha val="68000"/>
              </a:srgbClr>
            </a:outerShdw>
          </a:effectLst>
        </p:spPr>
      </p:pic>
      <p:pic>
        <p:nvPicPr>
          <p:cNvPr id="8" name="Picture 7" descr="slide4-selling-zoom.png"/>
          <p:cNvPicPr>
            <a:picLocks noChangeAspect="1"/>
          </p:cNvPicPr>
          <p:nvPr/>
        </p:nvPicPr>
        <p:blipFill>
          <a:blip r:embed="rId3"/>
          <a:stretch>
            <a:fillRect/>
          </a:stretch>
        </p:blipFill>
        <p:spPr>
          <a:xfrm>
            <a:off x="5971177" y="2860000"/>
            <a:ext cx="5397860" cy="3138291"/>
          </a:xfrm>
          <a:prstGeom prst="rect">
            <a:avLst/>
          </a:prstGeom>
          <a:effectLst>
            <a:outerShdw blurRad="90000" dist="30000" dir="5400000" rotWithShape="0">
              <a:srgbClr val="000000">
                <a:alpha val="68000"/>
              </a:srgbClr>
            </a:outerShdw>
          </a:effectLst>
        </p:spPr>
      </p:pic>
      <p:sp>
        <p:nvSpPr>
          <p:cNvPr id="9" name="TextBox 8"/>
          <p:cNvSpPr txBox="1"/>
          <p:nvPr/>
        </p:nvSpPr>
        <p:spPr>
          <a:xfrm>
            <a:off x="5346177" y="4169145"/>
            <a:ext cx="600000" cy="420000"/>
          </a:xfrm>
          <a:prstGeom prst="rect">
            <a:avLst/>
          </a:prstGeom>
          <a:noFill/>
        </p:spPr>
        <p:txBody>
          <a:bodyPr wrap="square" anchor="t" lIns="0" rIns="0" tIns="0" bIns="0">
            <a:spAutoFit/>
          </a:bodyPr>
          <a:lstStyle/>
          <a:p>
            <a:pPr algn="ctr">
              <a:spcBef>
                <a:spcPts val="0"/>
              </a:spcBef>
              <a:spcAft>
                <a:spcPts val="0"/>
              </a:spcAft>
            </a:pPr>
            <a:r>
              <a:rPr sz="4000" b="1" i="0">
                <a:solidFill>
                  <a:srgbClr val="C13F26"/>
                </a:solidFill>
                <a:latin typeface="Fredoka"/>
              </a:rPr>
              <a:t>→</a:t>
            </a:r>
          </a:p>
        </p:txBody>
      </p:sp>
      <p:sp>
        <p:nvSpPr>
          <p:cNvPr id="10" name="TextBox 9"/>
          <p:cNvSpPr txBox="1"/>
          <p:nvPr/>
        </p:nvSpPr>
        <p:spPr>
          <a:xfrm>
            <a:off x="5246177" y="4599145"/>
            <a:ext cx="800000" cy="280000"/>
          </a:xfrm>
          <a:prstGeom prst="rect">
            <a:avLst/>
          </a:prstGeom>
          <a:noFill/>
        </p:spPr>
        <p:txBody>
          <a:bodyPr wrap="square" anchor="t" lIns="0" rIns="0" tIns="0" bIns="0">
            <a:spAutoFit/>
          </a:bodyPr>
          <a:lstStyle/>
          <a:p>
            <a:pPr algn="ctr">
              <a:spcBef>
                <a:spcPts val="0"/>
              </a:spcBef>
              <a:spcAft>
                <a:spcPts val="0"/>
              </a:spcAft>
            </a:pPr>
            <a:r>
              <a:rPr sz="1200" b="1" i="0">
                <a:solidFill>
                  <a:srgbClr val="6B6B67"/>
                </a:solidFill>
                <a:latin typeface="Inter"/>
              </a:rPr>
              <a:t>1 toque</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414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6500000" cy="640080"/>
          </a:xfrm>
          <a:prstGeom prst="rect">
            <a:avLst/>
          </a:prstGeom>
          <a:noFill/>
        </p:spPr>
        <p:txBody>
          <a:bodyPr wrap="square" anchor="t" lIns="0" rIns="0" tIns="0" bIns="0">
            <a:spAutoFit/>
          </a:bodyPr>
          <a:lstStyle/>
          <a:p>
            <a:pPr algn="l">
              <a:spcBef>
                <a:spcPts val="0"/>
              </a:spcBef>
              <a:spcAft>
                <a:spcPts val="0"/>
              </a:spcAft>
            </a:pPr>
            <a:r>
              <a:rPr sz="3000" b="1" i="0">
                <a:solidFill>
                  <a:srgbClr val="FFFFFF"/>
                </a:solidFill>
                <a:latin typeface="Fredoka"/>
              </a:rPr>
              <a:t>Y queda guardada.</a:t>
            </a:r>
          </a:p>
        </p:txBody>
      </p:sp>
      <p:sp>
        <p:nvSpPr>
          <p:cNvPr id="4" name="TextBox 3"/>
          <p:cNvSpPr txBox="1"/>
          <p:nvPr/>
        </p:nvSpPr>
        <p:spPr>
          <a:xfrm>
            <a:off x="868680" y="1097280"/>
            <a:ext cx="6200000" cy="548640"/>
          </a:xfrm>
          <a:prstGeom prst="rect">
            <a:avLst/>
          </a:prstGeom>
          <a:noFill/>
        </p:spPr>
        <p:txBody>
          <a:bodyPr wrap="square" anchor="t" lIns="0" rIns="0" tIns="0" bIns="0">
            <a:spAutoFit/>
          </a:bodyPr>
          <a:lstStyle/>
          <a:p>
            <a:pPr algn="l">
              <a:lnSpc>
                <a:spcPct val="120000"/>
              </a:lnSpc>
              <a:spcBef>
                <a:spcPts val="0"/>
              </a:spcBef>
              <a:spcAft>
                <a:spcPts val="0"/>
              </a:spcAft>
            </a:pPr>
            <a:r>
              <a:rPr sz="1400" b="0" i="0">
                <a:solidFill>
                  <a:srgbClr val="C7C5C0"/>
                </a:solidFill>
                <a:latin typeface="Inter"/>
              </a:rPr>
              <a:t>Nunca más se pierde el registro de una venta, aunque llegue el siguiente cliente sin avisar.</a:t>
            </a:r>
          </a:p>
        </p:txBody>
      </p:sp>
      <p:sp>
        <p:nvSpPr>
          <p:cNvPr id="5" name="TextBox 4"/>
          <p:cNvSpPr txBox="1"/>
          <p:nvPr/>
        </p:nvSpPr>
        <p:spPr>
          <a:xfrm>
            <a:off x="0" y="2331720"/>
            <a:ext cx="12192000" cy="502920"/>
          </a:xfrm>
          <a:prstGeom prst="rect">
            <a:avLst/>
          </a:prstGeom>
          <a:noFill/>
        </p:spPr>
        <p:txBody>
          <a:bodyPr wrap="square" anchor="t" lIns="0" rIns="0" tIns="0" bIns="0">
            <a:spAutoFit/>
          </a:bodyPr>
          <a:lstStyle/>
          <a:p>
            <a:pPr algn="ctr">
              <a:spcBef>
                <a:spcPts val="0"/>
              </a:spcBef>
              <a:spcAft>
                <a:spcPts val="0"/>
              </a:spcAft>
            </a:pPr>
            <a:r>
              <a:rPr sz="2400" b="1" i="0">
                <a:solidFill>
                  <a:srgbClr val="FFFFFF"/>
                </a:solidFill>
                <a:latin typeface="Inter"/>
              </a:rPr>
              <a:t>Venta finalizada  ✓</a:t>
            </a:r>
          </a:p>
        </p:txBody>
      </p:sp>
      <p:sp>
        <p:nvSpPr>
          <p:cNvPr id="6" name="TextBox 5"/>
          <p:cNvSpPr txBox="1"/>
          <p:nvPr/>
        </p:nvSpPr>
        <p:spPr>
          <a:xfrm>
            <a:off x="0" y="2907792"/>
            <a:ext cx="12192000" cy="365760"/>
          </a:xfrm>
          <a:prstGeom prst="rect">
            <a:avLst/>
          </a:prstGeom>
          <a:noFill/>
        </p:spPr>
        <p:txBody>
          <a:bodyPr wrap="square" anchor="t" lIns="0" rIns="0" tIns="0" bIns="0">
            <a:spAutoFit/>
          </a:bodyPr>
          <a:lstStyle/>
          <a:p>
            <a:pPr algn="ctr">
              <a:spcBef>
                <a:spcPts val="0"/>
              </a:spcBef>
              <a:spcAft>
                <a:spcPts val="0"/>
              </a:spcAft>
            </a:pPr>
            <a:r>
              <a:rPr sz="1500" b="1" i="0">
                <a:solidFill>
                  <a:srgbClr val="F3D9D1"/>
                </a:solidFill>
                <a:latin typeface="Inter"/>
              </a:rPr>
              <a:t>T O T A L</a:t>
            </a:r>
          </a:p>
        </p:txBody>
      </p:sp>
      <p:sp>
        <p:nvSpPr>
          <p:cNvPr id="7" name="TextBox 6"/>
          <p:cNvSpPr txBox="1"/>
          <p:nvPr/>
        </p:nvSpPr>
        <p:spPr>
          <a:xfrm>
            <a:off x="0" y="3246120"/>
            <a:ext cx="12192000" cy="1828800"/>
          </a:xfrm>
          <a:prstGeom prst="rect">
            <a:avLst/>
          </a:prstGeom>
          <a:noFill/>
        </p:spPr>
        <p:txBody>
          <a:bodyPr wrap="square" anchor="t" lIns="0" rIns="0" tIns="0" bIns="0">
            <a:spAutoFit/>
          </a:bodyPr>
          <a:lstStyle/>
          <a:p>
            <a:pPr algn="ctr">
              <a:spcBef>
                <a:spcPts val="0"/>
              </a:spcBef>
              <a:spcAft>
                <a:spcPts val="0"/>
              </a:spcAft>
            </a:pPr>
            <a:r>
              <a:rPr sz="15000" b="1" i="0">
                <a:solidFill>
                  <a:srgbClr val="C13F26"/>
                </a:solidFill>
                <a:latin typeface="Fredoka"/>
              </a:rPr>
              <a:t>$540</a:t>
            </a:r>
          </a:p>
        </p:txBody>
      </p:sp>
      <p:cxnSp>
        <p:nvCxnSpPr>
          <p:cNvPr id="8" name="Connector 7"/>
          <p:cNvCxnSpPr/>
          <p:nvPr/>
        </p:nvCxnSpPr>
        <p:spPr>
          <a:xfrm>
            <a:off x="5184648" y="5349240"/>
            <a:ext cx="1828800" cy="0"/>
          </a:xfrm>
          <a:prstGeom prst="line">
            <a:avLst/>
          </a:prstGeom>
          <a:ln w="15875">
            <a:solidFill>
              <a:srgbClr val="CBC7C0"/>
            </a:solidFill>
            <a:prstDash val="sysDot"/>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0" y="5532120"/>
            <a:ext cx="12192000" cy="502920"/>
          </a:xfrm>
          <a:prstGeom prst="rect">
            <a:avLst/>
          </a:prstGeom>
          <a:noFill/>
        </p:spPr>
        <p:txBody>
          <a:bodyPr wrap="square" anchor="t" lIns="0" rIns="0" tIns="0" bIns="0">
            <a:spAutoFit/>
          </a:bodyPr>
          <a:lstStyle/>
          <a:p>
            <a:pPr algn="ctr">
              <a:spcBef>
                <a:spcPts val="0"/>
              </a:spcBef>
              <a:spcAft>
                <a:spcPts val="0"/>
              </a:spcAft>
            </a:pPr>
            <a:r>
              <a:rPr sz="2600" b="1" i="0">
                <a:solidFill>
                  <a:srgbClr val="FFFFFF"/>
                </a:solidFill>
                <a:latin typeface="Fredoka"/>
              </a:rPr>
              <a:t>Ropa Aurora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C13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11480"/>
            <a:ext cx="6583680" cy="2286000"/>
          </a:xfrm>
          <a:prstGeom prst="rect">
            <a:avLst/>
          </a:prstGeom>
          <a:noFill/>
        </p:spPr>
        <p:txBody>
          <a:bodyPr wrap="square" anchor="t" lIns="0" rIns="0" tIns="0" bIns="0">
            <a:spAutoFit/>
          </a:bodyPr>
          <a:lstStyle/>
          <a:p>
            <a:pPr algn="l">
              <a:spcBef>
                <a:spcPts val="0"/>
              </a:spcBef>
              <a:spcAft>
                <a:spcPts val="0"/>
              </a:spcAft>
            </a:pPr>
            <a:r>
              <a:rPr sz="14000" b="1" i="0">
                <a:solidFill>
                  <a:srgbClr val="FFFFFF"/>
                </a:solidFill>
                <a:latin typeface="Fredoka"/>
              </a:rPr>
              <a:t>0.34%</a:t>
            </a:r>
          </a:p>
        </p:txBody>
      </p:sp>
      <p:sp>
        <p:nvSpPr>
          <p:cNvPr id="4" name="TextBox 3"/>
          <p:cNvSpPr txBox="1"/>
          <p:nvPr/>
        </p:nvSpPr>
        <p:spPr>
          <a:xfrm>
            <a:off x="868680" y="2999232"/>
            <a:ext cx="6583680" cy="457200"/>
          </a:xfrm>
          <a:prstGeom prst="rect">
            <a:avLst/>
          </a:prstGeom>
          <a:noFill/>
        </p:spPr>
        <p:txBody>
          <a:bodyPr wrap="square" anchor="t" lIns="0" rIns="0" tIns="0" bIns="0">
            <a:spAutoFit/>
          </a:bodyPr>
          <a:lstStyle/>
          <a:p>
            <a:pPr algn="l">
              <a:spcBef>
                <a:spcPts val="0"/>
              </a:spcBef>
              <a:spcAft>
                <a:spcPts val="0"/>
              </a:spcAft>
            </a:pPr>
            <a:r>
              <a:rPr sz="2200" b="0" i="0">
                <a:solidFill>
                  <a:srgbClr val="F3D9D1"/>
                </a:solidFill>
                <a:latin typeface="Inter"/>
              </a:rPr>
              <a:t>2 de 583 visitantes probaron el demo</a:t>
            </a:r>
          </a:p>
        </p:txBody>
      </p:sp>
      <p:sp>
        <p:nvSpPr>
          <p:cNvPr id="5" name="TextBox 4"/>
          <p:cNvSpPr txBox="1"/>
          <p:nvPr/>
        </p:nvSpPr>
        <p:spPr>
          <a:xfrm>
            <a:off x="8549640" y="594360"/>
            <a:ext cx="2834640" cy="457200"/>
          </a:xfrm>
          <a:prstGeom prst="rect">
            <a:avLst/>
          </a:prstGeom>
          <a:noFill/>
        </p:spPr>
        <p:txBody>
          <a:bodyPr wrap="square" anchor="t" lIns="0" rIns="0" tIns="0" bIns="0">
            <a:spAutoFit/>
          </a:bodyPr>
          <a:lstStyle/>
          <a:p>
            <a:pPr algn="l">
              <a:spcBef>
                <a:spcPts val="0"/>
              </a:spcBef>
              <a:spcAft>
                <a:spcPts val="0"/>
              </a:spcAft>
            </a:pPr>
            <a:r>
              <a:rPr sz="3200" b="1" i="0">
                <a:solidFill>
                  <a:srgbClr val="FFFFFF"/>
                </a:solidFill>
                <a:latin typeface="Fredoka"/>
              </a:rPr>
              <a:t>583</a:t>
            </a:r>
          </a:p>
        </p:txBody>
      </p:sp>
      <p:sp>
        <p:nvSpPr>
          <p:cNvPr id="6" name="TextBox 5"/>
          <p:cNvSpPr txBox="1"/>
          <p:nvPr/>
        </p:nvSpPr>
        <p:spPr>
          <a:xfrm>
            <a:off x="8549640" y="1097280"/>
            <a:ext cx="2834640" cy="365760"/>
          </a:xfrm>
          <a:prstGeom prst="rect">
            <a:avLst/>
          </a:prstGeom>
          <a:noFill/>
        </p:spPr>
        <p:txBody>
          <a:bodyPr wrap="square" anchor="t" lIns="0" rIns="0" tIns="0" bIns="0">
            <a:spAutoFit/>
          </a:bodyPr>
          <a:lstStyle/>
          <a:p>
            <a:pPr algn="l">
              <a:spcBef>
                <a:spcPts val="0"/>
              </a:spcBef>
              <a:spcAft>
                <a:spcPts val="0"/>
              </a:spcAft>
            </a:pPr>
            <a:r>
              <a:rPr sz="1300" b="0" i="0">
                <a:solidFill>
                  <a:srgbClr val="F3D9D1"/>
                </a:solidFill>
                <a:latin typeface="Inter"/>
              </a:rPr>
              <a:t>visitantes reales</a:t>
            </a:r>
          </a:p>
        </p:txBody>
      </p:sp>
      <p:sp>
        <p:nvSpPr>
          <p:cNvPr id="7" name="TextBox 6"/>
          <p:cNvSpPr txBox="1"/>
          <p:nvPr/>
        </p:nvSpPr>
        <p:spPr>
          <a:xfrm>
            <a:off x="8549640" y="1691640"/>
            <a:ext cx="2834640" cy="457200"/>
          </a:xfrm>
          <a:prstGeom prst="rect">
            <a:avLst/>
          </a:prstGeom>
          <a:noFill/>
        </p:spPr>
        <p:txBody>
          <a:bodyPr wrap="square" anchor="t" lIns="0" rIns="0" tIns="0" bIns="0">
            <a:spAutoFit/>
          </a:bodyPr>
          <a:lstStyle/>
          <a:p>
            <a:pPr algn="l">
              <a:spcBef>
                <a:spcPts val="0"/>
              </a:spcBef>
              <a:spcAft>
                <a:spcPts val="0"/>
              </a:spcAft>
            </a:pPr>
            <a:r>
              <a:rPr sz="2600" b="1" i="0">
                <a:solidFill>
                  <a:srgbClr val="FFFFFF"/>
                </a:solidFill>
                <a:latin typeface="Fredoka"/>
              </a:rPr>
              <a:t>$569.24 · 731</a:t>
            </a:r>
          </a:p>
        </p:txBody>
      </p:sp>
      <p:sp>
        <p:nvSpPr>
          <p:cNvPr id="8" name="TextBox 7"/>
          <p:cNvSpPr txBox="1"/>
          <p:nvPr/>
        </p:nvSpPr>
        <p:spPr>
          <a:xfrm>
            <a:off x="8549640" y="2148840"/>
            <a:ext cx="2834640" cy="548640"/>
          </a:xfrm>
          <a:prstGeom prst="rect">
            <a:avLst/>
          </a:prstGeom>
          <a:noFill/>
        </p:spPr>
        <p:txBody>
          <a:bodyPr wrap="square" anchor="t" lIns="0" rIns="0" tIns="0" bIns="0">
            <a:spAutoFit/>
          </a:bodyPr>
          <a:lstStyle/>
          <a:p>
            <a:pPr algn="l">
              <a:lnSpc>
                <a:spcPct val="115000"/>
              </a:lnSpc>
              <a:spcBef>
                <a:spcPts val="0"/>
              </a:spcBef>
              <a:spcAft>
                <a:spcPts val="0"/>
              </a:spcAft>
            </a:pPr>
            <a:r>
              <a:rPr sz="1300" b="0" i="0">
                <a:solidFill>
                  <a:srgbClr val="F3D9D1"/>
                </a:solidFill>
                <a:latin typeface="Inter"/>
              </a:rPr>
              <a:t>resultados de la campaña Meta</a:t>
            </a:r>
          </a:p>
        </p:txBody>
      </p:sp>
      <p:pic>
        <p:nvPicPr>
          <p:cNvPr id="9" name="Picture 8" descr="vercel1-chart.png"/>
          <p:cNvPicPr>
            <a:picLocks noChangeAspect="1"/>
          </p:cNvPicPr>
          <p:nvPr/>
        </p:nvPicPr>
        <p:blipFill>
          <a:blip r:embed="rId2"/>
          <a:stretch>
            <a:fillRect/>
          </a:stretch>
        </p:blipFill>
        <p:spPr>
          <a:xfrm>
            <a:off x="1093960" y="3310128"/>
            <a:ext cx="5040588" cy="1620000"/>
          </a:xfrm>
          <a:prstGeom prst="rect">
            <a:avLst/>
          </a:prstGeom>
        </p:spPr>
      </p:pic>
      <p:pic>
        <p:nvPicPr>
          <p:cNvPr id="10" name="Picture 9" descr="vercel2-events.png"/>
          <p:cNvPicPr>
            <a:picLocks noChangeAspect="1"/>
          </p:cNvPicPr>
          <p:nvPr/>
        </p:nvPicPr>
        <p:blipFill>
          <a:blip r:embed="rId3"/>
          <a:stretch>
            <a:fillRect/>
          </a:stretch>
        </p:blipFill>
        <p:spPr>
          <a:xfrm>
            <a:off x="6434548" y="3310128"/>
            <a:ext cx="4663186" cy="1620000"/>
          </a:xfrm>
          <a:prstGeom prst="rect">
            <a:avLst/>
          </a:prstGeom>
        </p:spPr>
      </p:pic>
      <p:sp>
        <p:nvSpPr>
          <p:cNvPr id="11" name="TextBox 10"/>
          <p:cNvSpPr txBox="1"/>
          <p:nvPr/>
        </p:nvSpPr>
        <p:spPr>
          <a:xfrm>
            <a:off x="868680" y="5138928"/>
            <a:ext cx="9601200" cy="777240"/>
          </a:xfrm>
          <a:prstGeom prst="rect">
            <a:avLst/>
          </a:prstGeom>
          <a:noFill/>
        </p:spPr>
        <p:txBody>
          <a:bodyPr wrap="square" anchor="t" lIns="0" rIns="0" tIns="0" bIns="0">
            <a:spAutoFit/>
          </a:bodyPr>
          <a:lstStyle/>
          <a:p>
            <a:pPr algn="l">
              <a:lnSpc>
                <a:spcPct val="108000"/>
              </a:lnSpc>
              <a:spcBef>
                <a:spcPts val="0"/>
              </a:spcBef>
              <a:spcAft>
                <a:spcPts val="0"/>
              </a:spcAft>
            </a:pPr>
            <a:r>
              <a:rPr sz="2000" b="1" i="0">
                <a:solidFill>
                  <a:srgbClr val="FFFFFF"/>
                </a:solidFill>
                <a:latin typeface="Fredoka"/>
              </a:rPr>
              <a:t>El alcance funciona. La adopción real todavía no, y no lo descubrí el día 1, sino a mitad de campaña.</a:t>
            </a:r>
          </a:p>
        </p:txBody>
      </p:sp>
      <p:sp>
        <p:nvSpPr>
          <p:cNvPr id="12" name="TextBox 11"/>
          <p:cNvSpPr txBox="1"/>
          <p:nvPr/>
        </p:nvSpPr>
        <p:spPr>
          <a:xfrm>
            <a:off x="868680" y="5870448"/>
            <a:ext cx="9601200" cy="502920"/>
          </a:xfrm>
          <a:prstGeom prst="rect">
            <a:avLst/>
          </a:prstGeom>
          <a:noFill/>
        </p:spPr>
        <p:txBody>
          <a:bodyPr wrap="square" anchor="t" lIns="0" rIns="0" tIns="0" bIns="0">
            <a:spAutoFit/>
          </a:bodyPr>
          <a:lstStyle/>
          <a:p>
            <a:pPr algn="l">
              <a:lnSpc>
                <a:spcPct val="110000"/>
              </a:lnSpc>
              <a:spcBef>
                <a:spcPts val="0"/>
              </a:spcBef>
              <a:spcAft>
                <a:spcPts val="0"/>
              </a:spcAft>
            </a:pPr>
            <a:r>
              <a:rPr sz="1400" b="0" i="0">
                <a:solidFill>
                  <a:srgbClr val="FAEEEA"/>
                </a:solidFill>
                <a:latin typeface="Inter"/>
              </a:rPr>
              <a:t>De esos 583, solamente 227 llegaron con el recorrido completo midiéndose. Y ni siquiera con eso, la aguja se movió.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11480"/>
            <a:ext cx="8000000" cy="700000"/>
          </a:xfrm>
          <a:prstGeom prst="rect">
            <a:avLst/>
          </a:prstGeom>
          <a:noFill/>
        </p:spPr>
        <p:txBody>
          <a:bodyPr wrap="square" anchor="t" lIns="0" rIns="0" tIns="0" bIns="0">
            <a:spAutoFit/>
          </a:bodyPr>
          <a:lstStyle/>
          <a:p>
            <a:pPr algn="l">
              <a:spcBef>
                <a:spcPts val="0"/>
              </a:spcBef>
              <a:spcAft>
                <a:spcPts val="0"/>
              </a:spcAft>
            </a:pPr>
            <a:r>
              <a:rPr sz="4400" b="1" i="0">
                <a:solidFill>
                  <a:srgbClr val="141413"/>
                </a:solidFill>
                <a:latin typeface="Fredoka"/>
              </a:rPr>
              <a:t>Viabilidad.</a:t>
            </a:r>
          </a:p>
        </p:txBody>
      </p:sp>
      <p:sp>
        <p:nvSpPr>
          <p:cNvPr id="4" name="TextBox 3"/>
          <p:cNvSpPr txBox="1"/>
          <p:nvPr/>
        </p:nvSpPr>
        <p:spPr>
          <a:xfrm>
            <a:off x="868680" y="1080000"/>
            <a:ext cx="10230000" cy="450000"/>
          </a:xfrm>
          <a:prstGeom prst="rect">
            <a:avLst/>
          </a:prstGeom>
          <a:noFill/>
        </p:spPr>
        <p:txBody>
          <a:bodyPr wrap="square" anchor="t" lIns="0" rIns="0" tIns="0" bIns="0">
            <a:spAutoFit/>
          </a:bodyPr>
          <a:lstStyle/>
          <a:p>
            <a:pPr algn="l">
              <a:lnSpc>
                <a:spcPct val="120000"/>
              </a:lnSpc>
              <a:spcBef>
                <a:spcPts val="0"/>
              </a:spcBef>
              <a:spcAft>
                <a:spcPts val="0"/>
              </a:spcAft>
            </a:pPr>
            <a:r>
              <a:rPr sz="1600" b="0" i="0">
                <a:solidFill>
                  <a:srgbClr val="6B6B67"/>
                </a:solidFill>
                <a:latin typeface="Inter"/>
              </a:rPr>
              <a:t>Cuánto cuesta esto en realidad, y qué tan lista está la base técnica.</a:t>
            </a:r>
          </a:p>
        </p:txBody>
      </p:sp>
      <p:sp>
        <p:nvSpPr>
          <p:cNvPr id="5" name="TextBox 4"/>
          <p:cNvSpPr txBox="1"/>
          <p:nvPr/>
        </p:nvSpPr>
        <p:spPr>
          <a:xfrm>
            <a:off x="822960" y="1780000"/>
            <a:ext cx="4550000" cy="320000"/>
          </a:xfrm>
          <a:prstGeom prst="rect">
            <a:avLst/>
          </a:prstGeom>
          <a:noFill/>
        </p:spPr>
        <p:txBody>
          <a:bodyPr wrap="square" anchor="t" lIns="0" rIns="0" tIns="0" bIns="0">
            <a:spAutoFit/>
          </a:bodyPr>
          <a:lstStyle/>
          <a:p>
            <a:pPr algn="l">
              <a:spcBef>
                <a:spcPts val="0"/>
              </a:spcBef>
              <a:spcAft>
                <a:spcPts val="0"/>
              </a:spcAft>
            </a:pPr>
            <a:r>
              <a:rPr sz="1200" b="1" i="0">
                <a:solidFill>
                  <a:srgbClr val="C13F26"/>
                </a:solidFill>
                <a:latin typeface="Inter"/>
              </a:rPr>
              <a:t>B A S E   T É C N I C A</a:t>
            </a:r>
          </a:p>
        </p:txBody>
      </p:sp>
      <p:sp>
        <p:nvSpPr>
          <p:cNvPr id="6" name="TextBox 5"/>
          <p:cNvSpPr txBox="1"/>
          <p:nvPr/>
        </p:nvSpPr>
        <p:spPr>
          <a:xfrm>
            <a:off x="822960" y="2200000"/>
            <a:ext cx="4550000" cy="940000"/>
          </a:xfrm>
          <a:prstGeom prst="rect">
            <a:avLst/>
          </a:prstGeom>
          <a:noFill/>
        </p:spPr>
        <p:txBody>
          <a:bodyPr wrap="square" anchor="t" lIns="0" rIns="0" tIns="0" bIns="0">
            <a:spAutoFit/>
          </a:bodyPr>
          <a:lstStyle/>
          <a:p>
            <a:pPr algn="l">
              <a:lnSpc>
                <a:spcPct val="110000"/>
              </a:lnSpc>
              <a:spcBef>
                <a:spcPts val="0"/>
              </a:spcBef>
              <a:spcAft>
                <a:spcPts val="0"/>
              </a:spcAft>
            </a:pPr>
            <a:r>
              <a:rPr sz="1500" b="1" i="0">
                <a:solidFill>
                  <a:srgbClr val="141413"/>
                </a:solidFill>
                <a:latin typeface="Fredoka"/>
              </a:rPr>
              <a:t>Datos</a:t>
            </a:r>
          </a:p>
          <a:p>
            <a:pPr algn="l">
              <a:lnSpc>
                <a:spcPct val="118000"/>
              </a:lnSpc>
              <a:spcBef>
                <a:spcPts val="200"/>
              </a:spcBef>
              <a:spcAft>
                <a:spcPts val="0"/>
              </a:spcAft>
            </a:pPr>
            <a:r>
              <a:rPr sz="1250" b="0" i="0">
                <a:solidFill>
                  <a:srgbClr val="6B6B67"/>
                </a:solidFill>
                <a:latin typeface="Inter"/>
              </a:rPr>
              <a:t>Modelo de dominio ya congelado: Sale, SaleItem, Session, Event, Product, Business. Solo falta persistirlo.</a:t>
            </a:r>
          </a:p>
        </p:txBody>
      </p:sp>
      <p:sp>
        <p:nvSpPr>
          <p:cNvPr id="7" name="TextBox 6"/>
          <p:cNvSpPr txBox="1"/>
          <p:nvPr/>
        </p:nvSpPr>
        <p:spPr>
          <a:xfrm>
            <a:off x="822960" y="3140000"/>
            <a:ext cx="4550000" cy="940000"/>
          </a:xfrm>
          <a:prstGeom prst="rect">
            <a:avLst/>
          </a:prstGeom>
          <a:noFill/>
        </p:spPr>
        <p:txBody>
          <a:bodyPr wrap="square" anchor="t" lIns="0" rIns="0" tIns="0" bIns="0">
            <a:spAutoFit/>
          </a:bodyPr>
          <a:lstStyle/>
          <a:p>
            <a:pPr algn="l">
              <a:lnSpc>
                <a:spcPct val="110000"/>
              </a:lnSpc>
              <a:spcBef>
                <a:spcPts val="0"/>
              </a:spcBef>
              <a:spcAft>
                <a:spcPts val="0"/>
              </a:spcAft>
            </a:pPr>
            <a:r>
              <a:rPr sz="1500" b="1" i="0">
                <a:solidFill>
                  <a:srgbClr val="141413"/>
                </a:solidFill>
                <a:latin typeface="Fredoka"/>
              </a:rPr>
              <a:t>Infraestructura</a:t>
            </a:r>
          </a:p>
          <a:p>
            <a:pPr algn="l">
              <a:lnSpc>
                <a:spcPct val="118000"/>
              </a:lnSpc>
              <a:spcBef>
                <a:spcPts val="200"/>
              </a:spcBef>
              <a:spcAft>
                <a:spcPts val="0"/>
              </a:spcAft>
            </a:pPr>
            <a:r>
              <a:rPr sz="1250" b="0" i="0">
                <a:solidFill>
                  <a:srgbClr val="6B6B67"/>
                </a:solidFill>
                <a:latin typeface="Inter"/>
              </a:rPr>
              <a:t>React + TypeScript en Vercel. Backend en Supabase, un solo proveedor a esta escala piloto.</a:t>
            </a:r>
          </a:p>
        </p:txBody>
      </p:sp>
      <p:sp>
        <p:nvSpPr>
          <p:cNvPr id="8" name="TextBox 7"/>
          <p:cNvSpPr txBox="1"/>
          <p:nvPr/>
        </p:nvSpPr>
        <p:spPr>
          <a:xfrm>
            <a:off x="822960" y="4080000"/>
            <a:ext cx="4550000" cy="940000"/>
          </a:xfrm>
          <a:prstGeom prst="rect">
            <a:avLst/>
          </a:prstGeom>
          <a:noFill/>
        </p:spPr>
        <p:txBody>
          <a:bodyPr wrap="square" anchor="t" lIns="0" rIns="0" tIns="0" bIns="0">
            <a:spAutoFit/>
          </a:bodyPr>
          <a:lstStyle/>
          <a:p>
            <a:pPr algn="l">
              <a:lnSpc>
                <a:spcPct val="110000"/>
              </a:lnSpc>
              <a:spcBef>
                <a:spcPts val="0"/>
              </a:spcBef>
              <a:spcAft>
                <a:spcPts val="0"/>
              </a:spcAft>
            </a:pPr>
            <a:r>
              <a:rPr sz="1500" b="1" i="0">
                <a:solidFill>
                  <a:srgbClr val="141413"/>
                </a:solidFill>
                <a:latin typeface="Fredoka"/>
              </a:rPr>
              <a:t>NFC</a:t>
            </a:r>
          </a:p>
          <a:p>
            <a:pPr algn="l">
              <a:lnSpc>
                <a:spcPct val="118000"/>
              </a:lnSpc>
              <a:spcBef>
                <a:spcPts val="200"/>
              </a:spcBef>
              <a:spcAft>
                <a:spcPts val="0"/>
              </a:spcAft>
            </a:pPr>
            <a:r>
              <a:rPr sz="1250" b="0" i="0">
                <a:solidFill>
                  <a:srgbClr val="6B6B67"/>
                </a:solidFill>
                <a:latin typeface="Inter"/>
              </a:rPr>
              <a:t>Android: Web NFC, sin cambios. iOS: shell nativo delgado con Core NFC. Ana nunca compra un lector aparte.</a:t>
            </a:r>
          </a:p>
        </p:txBody>
      </p:sp>
      <p:sp>
        <p:nvSpPr>
          <p:cNvPr id="9" name="TextBox 8"/>
          <p:cNvSpPr txBox="1"/>
          <p:nvPr/>
        </p:nvSpPr>
        <p:spPr>
          <a:xfrm>
            <a:off x="822960" y="5020000"/>
            <a:ext cx="4550000" cy="940000"/>
          </a:xfrm>
          <a:prstGeom prst="rect">
            <a:avLst/>
          </a:prstGeom>
          <a:noFill/>
        </p:spPr>
        <p:txBody>
          <a:bodyPr wrap="square" anchor="t" lIns="0" rIns="0" tIns="0" bIns="0">
            <a:spAutoFit/>
          </a:bodyPr>
          <a:lstStyle/>
          <a:p>
            <a:pPr algn="l">
              <a:lnSpc>
                <a:spcPct val="110000"/>
              </a:lnSpc>
              <a:spcBef>
                <a:spcPts val="0"/>
              </a:spcBef>
              <a:spcAft>
                <a:spcPts val="0"/>
              </a:spcAft>
            </a:pPr>
            <a:r>
              <a:rPr sz="1500" b="1" i="0">
                <a:solidFill>
                  <a:srgbClr val="141413"/>
                </a:solidFill>
                <a:latin typeface="Fredoka"/>
              </a:rPr>
              <a:t>Equipo humano</a:t>
            </a:r>
          </a:p>
          <a:p>
            <a:pPr algn="l">
              <a:lnSpc>
                <a:spcPct val="118000"/>
              </a:lnSpc>
              <a:spcBef>
                <a:spcPts val="200"/>
              </a:spcBef>
              <a:spcAft>
                <a:spcPts val="0"/>
              </a:spcAft>
            </a:pPr>
            <a:r>
              <a:rPr sz="1250" b="0" i="0">
                <a:solidFill>
                  <a:srgbClr val="6B6B67"/>
                </a:solidFill>
                <a:latin typeface="Inter"/>
              </a:rPr>
              <a:t>Una persona con dominio de React/TypeScript. Arquitectura completamente gestionada, sin operador adicional.</a:t>
            </a:r>
          </a:p>
        </p:txBody>
      </p:sp>
      <p:sp>
        <p:nvSpPr>
          <p:cNvPr id="10" name="TextBox 9"/>
          <p:cNvSpPr txBox="1"/>
          <p:nvPr/>
        </p:nvSpPr>
        <p:spPr>
          <a:xfrm>
            <a:off x="5872960" y="1780000"/>
            <a:ext cx="5496080" cy="320000"/>
          </a:xfrm>
          <a:prstGeom prst="rect">
            <a:avLst/>
          </a:prstGeom>
          <a:noFill/>
        </p:spPr>
        <p:txBody>
          <a:bodyPr wrap="square" anchor="t" lIns="0" rIns="0" tIns="0" bIns="0">
            <a:spAutoFit/>
          </a:bodyPr>
          <a:lstStyle/>
          <a:p>
            <a:pPr algn="l">
              <a:spcBef>
                <a:spcPts val="0"/>
              </a:spcBef>
              <a:spcAft>
                <a:spcPts val="0"/>
              </a:spcAft>
            </a:pPr>
            <a:r>
              <a:rPr sz="1200" b="1" i="0">
                <a:solidFill>
                  <a:srgbClr val="C13F26"/>
                </a:solidFill>
                <a:latin typeface="Inter"/>
              </a:rPr>
              <a:t>B U S I N E S S   C A S E</a:t>
            </a:r>
          </a:p>
        </p:txBody>
      </p:sp>
      <p:graphicFrame>
        <p:nvGraphicFramePr>
          <p:cNvPr id="11" name="Table 10"/>
          <p:cNvGraphicFramePr>
            <a:graphicFrameLocks noGrp="1"/>
          </p:cNvGraphicFramePr>
          <p:nvPr/>
        </p:nvGraphicFramePr>
        <p:xfrm>
          <a:off x="5872960" y="2200000"/>
          <a:ext cx="5496079" cy="3020000"/>
        </p:xfrm>
        <a:graphic>
          <a:graphicData uri="http://schemas.openxmlformats.org/drawingml/2006/table">
            <a:tbl>
              <a:tblPr>
                <a:tableStyleId>{5C22544A-7EE6-4342-B048-85BDC9FD1C3A}</a:tableStyleId>
              </a:tblPr>
              <a:tblGrid>
                <a:gridCol w="2308353"/>
                <a:gridCol w="1718667"/>
                <a:gridCol w="1469059"/>
              </a:tblGrid>
              <a:tr h="460000">
                <a:tc>
                  <a:txBody>
                    <a:bodyPr wrap="square"/>
                    <a:lstStyle/>
                    <a:p>
                      <a:pPr algn="l">
                        <a:lnSpc>
                          <a:spcPct val="105000"/>
                        </a:lnSpc>
                        <a:spcBef>
                          <a:spcPts val="0"/>
                        </a:spcBef>
                        <a:spcAft>
                          <a:spcPts val="0"/>
                        </a:spcAft>
                      </a:pPr>
                      <a:r>
                        <a:rPr sz="1400" b="1" i="0">
                          <a:solidFill>
                            <a:srgbClr val="FFFFFF"/>
                          </a:solidFill>
                          <a:latin typeface="Inter"/>
                        </a:rPr>
                        <a:t>Concepto</a:t>
                      </a:r>
                    </a:p>
                  </a:txBody>
                  <a:tcPr anchor="ctr" marL="76200" marR="76200" marT="50800" marB="50800">
                    <a:solidFill>
                      <a:srgbClr val="C13F26"/>
                    </a:solidFill>
                  </a:tcPr>
                </a:tc>
                <a:tc>
                  <a:txBody>
                    <a:bodyPr wrap="square"/>
                    <a:lstStyle/>
                    <a:p>
                      <a:pPr algn="l">
                        <a:lnSpc>
                          <a:spcPct val="105000"/>
                        </a:lnSpc>
                        <a:spcBef>
                          <a:spcPts val="0"/>
                        </a:spcBef>
                        <a:spcAft>
                          <a:spcPts val="0"/>
                        </a:spcAft>
                      </a:pPr>
                      <a:r>
                        <a:rPr sz="1400" b="1" i="0">
                          <a:solidFill>
                            <a:srgbClr val="FFFFFF"/>
                          </a:solidFill>
                          <a:latin typeface="Inter"/>
                        </a:rPr>
                        <a:t>Cifra</a:t>
                      </a:r>
                    </a:p>
                  </a:txBody>
                  <a:tcPr anchor="ctr" marL="76200" marR="76200" marT="50800" marB="50800">
                    <a:solidFill>
                      <a:srgbClr val="C13F26"/>
                    </a:solidFill>
                  </a:tcPr>
                </a:tc>
                <a:tc>
                  <a:txBody>
                    <a:bodyPr wrap="square"/>
                    <a:lstStyle/>
                    <a:p>
                      <a:pPr algn="l">
                        <a:lnSpc>
                          <a:spcPct val="105000"/>
                        </a:lnSpc>
                        <a:spcBef>
                          <a:spcPts val="0"/>
                        </a:spcBef>
                        <a:spcAft>
                          <a:spcPts val="0"/>
                        </a:spcAft>
                      </a:pPr>
                      <a:r>
                        <a:rPr sz="1400" b="1" i="0">
                          <a:solidFill>
                            <a:srgbClr val="FFFFFF"/>
                          </a:solidFill>
                          <a:latin typeface="Inter"/>
                        </a:rPr>
                        <a:t>Tipo</a:t>
                      </a:r>
                    </a:p>
                  </a:txBody>
                  <a:tcPr anchor="ctr" marL="76200" marR="76200" marT="50800" marB="50800">
                    <a:solidFill>
                      <a:srgbClr val="C13F26"/>
                    </a:solidFill>
                  </a:tcPr>
                </a:tc>
              </a:tr>
              <a:tr h="640000">
                <a:tc>
                  <a:txBody>
                    <a:bodyPr wrap="square"/>
                    <a:lstStyle/>
                    <a:p>
                      <a:pPr algn="l">
                        <a:lnSpc>
                          <a:spcPct val="105000"/>
                        </a:lnSpc>
                        <a:spcBef>
                          <a:spcPts val="0"/>
                        </a:spcBef>
                        <a:spcAft>
                          <a:spcPts val="0"/>
                        </a:spcAft>
                      </a:pPr>
                      <a:r>
                        <a:rPr sz="1400" b="0" i="0">
                          <a:solidFill>
                            <a:srgbClr val="141413"/>
                          </a:solidFill>
                          <a:latin typeface="Inter"/>
                        </a:rPr>
                        <a:t>Inversión inicial de un solo pago</a:t>
                      </a:r>
                    </a:p>
                  </a:txBody>
                  <a:tcPr anchor="ctr" marL="76200" marR="76200" marT="50800" marB="50800">
                    <a:solidFill>
                      <a:srgbClr val="FFFFFF"/>
                    </a:solidFill>
                  </a:tcPr>
                </a:tc>
                <a:tc>
                  <a:txBody>
                    <a:bodyPr wrap="square"/>
                    <a:lstStyle/>
                    <a:p>
                      <a:pPr algn="l">
                        <a:lnSpc>
                          <a:spcPct val="105000"/>
                        </a:lnSpc>
                        <a:spcBef>
                          <a:spcPts val="0"/>
                        </a:spcBef>
                        <a:spcAft>
                          <a:spcPts val="0"/>
                        </a:spcAft>
                      </a:pPr>
                      <a:r>
                        <a:rPr sz="1400" b="1" i="0">
                          <a:solidFill>
                            <a:srgbClr val="C13F26"/>
                          </a:solidFill>
                          <a:latin typeface="Inter"/>
                        </a:rPr>
                        <a:t>aprox. $626 MXN</a:t>
                      </a:r>
                    </a:p>
                  </a:txBody>
                  <a:tcPr anchor="ctr" marL="76200" marR="76200" marT="50800" marB="50800">
                    <a:solidFill>
                      <a:srgbClr val="FFFFFF"/>
                    </a:solidFill>
                  </a:tcPr>
                </a:tc>
                <a:tc>
                  <a:txBody>
                    <a:bodyPr wrap="square"/>
                    <a:lstStyle/>
                    <a:p>
                      <a:pPr algn="l">
                        <a:lnSpc>
                          <a:spcPct val="105000"/>
                        </a:lnSpc>
                        <a:spcBef>
                          <a:spcPts val="0"/>
                        </a:spcBef>
                        <a:spcAft>
                          <a:spcPts val="0"/>
                        </a:spcAft>
                      </a:pPr>
                      <a:r>
                        <a:rPr sz="1400" b="0" i="0">
                          <a:solidFill>
                            <a:srgbClr val="6B6B67"/>
                          </a:solidFill>
                          <a:latin typeface="Inter"/>
                        </a:rPr>
                        <a:t>Real, ya pagado</a:t>
                      </a:r>
                    </a:p>
                  </a:txBody>
                  <a:tcPr anchor="ctr" marL="76200" marR="76200" marT="50800" marB="50800">
                    <a:solidFill>
                      <a:srgbClr val="FFFFFF"/>
                    </a:solidFill>
                  </a:tcPr>
                </a:tc>
              </a:tr>
              <a:tr h="640000">
                <a:tc>
                  <a:txBody>
                    <a:bodyPr wrap="square"/>
                    <a:lstStyle/>
                    <a:p>
                      <a:pPr algn="l">
                        <a:lnSpc>
                          <a:spcPct val="105000"/>
                        </a:lnSpc>
                        <a:spcBef>
                          <a:spcPts val="0"/>
                        </a:spcBef>
                        <a:spcAft>
                          <a:spcPts val="0"/>
                        </a:spcAft>
                      </a:pPr>
                      <a:r>
                        <a:rPr sz="1400" b="0" i="0">
                          <a:solidFill>
                            <a:srgbClr val="141413"/>
                          </a:solidFill>
                          <a:latin typeface="Inter"/>
                        </a:rPr>
                        <a:t>Herramienta de desarrollo (Claude Code Max)</a:t>
                      </a:r>
                    </a:p>
                  </a:txBody>
                  <a:tcPr anchor="ctr" marL="76200" marR="76200" marT="50800" marB="50800">
                    <a:solidFill>
                      <a:srgbClr val="F0EEE8"/>
                    </a:solidFill>
                  </a:tcPr>
                </a:tc>
                <a:tc>
                  <a:txBody>
                    <a:bodyPr wrap="square"/>
                    <a:lstStyle/>
                    <a:p>
                      <a:pPr algn="l">
                        <a:lnSpc>
                          <a:spcPct val="105000"/>
                        </a:lnSpc>
                        <a:spcBef>
                          <a:spcPts val="0"/>
                        </a:spcBef>
                        <a:spcAft>
                          <a:spcPts val="0"/>
                        </a:spcAft>
                      </a:pPr>
                      <a:r>
                        <a:rPr sz="1400" b="1" i="0">
                          <a:solidFill>
                            <a:srgbClr val="C13F26"/>
                          </a:solidFill>
                          <a:latin typeface="Inter"/>
                        </a:rPr>
                        <a:t>$100 USD/mes (aprox. $1,850 MXN/mes)</a:t>
                      </a:r>
                    </a:p>
                  </a:txBody>
                  <a:tcPr anchor="ctr" marL="76200" marR="76200" marT="50800" marB="50800">
                    <a:solidFill>
                      <a:srgbClr val="F0EEE8"/>
                    </a:solidFill>
                  </a:tcPr>
                </a:tc>
                <a:tc>
                  <a:txBody>
                    <a:bodyPr wrap="square"/>
                    <a:lstStyle/>
                    <a:p>
                      <a:pPr algn="l">
                        <a:lnSpc>
                          <a:spcPct val="105000"/>
                        </a:lnSpc>
                        <a:spcBef>
                          <a:spcPts val="0"/>
                        </a:spcBef>
                        <a:spcAft>
                          <a:spcPts val="0"/>
                        </a:spcAft>
                      </a:pPr>
                      <a:r>
                        <a:rPr sz="1400" b="0" i="0">
                          <a:solidFill>
                            <a:srgbClr val="6B6B67"/>
                          </a:solidFill>
                          <a:latin typeface="Inter"/>
                        </a:rPr>
                        <a:t>Real, recurrente</a:t>
                      </a:r>
                    </a:p>
                  </a:txBody>
                  <a:tcPr anchor="ctr" marL="76200" marR="76200" marT="50800" marB="50800">
                    <a:solidFill>
                      <a:srgbClr val="F0EEE8"/>
                    </a:solidFill>
                  </a:tcPr>
                </a:tc>
              </a:tr>
              <a:tr h="640000">
                <a:tc>
                  <a:txBody>
                    <a:bodyPr wrap="square"/>
                    <a:lstStyle/>
                    <a:p>
                      <a:pPr algn="l">
                        <a:lnSpc>
                          <a:spcPct val="105000"/>
                        </a:lnSpc>
                        <a:spcBef>
                          <a:spcPts val="0"/>
                        </a:spcBef>
                        <a:spcAft>
                          <a:spcPts val="0"/>
                        </a:spcAft>
                      </a:pPr>
                      <a:r>
                        <a:rPr sz="1400" b="0" i="0">
                          <a:solidFill>
                            <a:srgbClr val="141413"/>
                          </a:solidFill>
                          <a:latin typeface="Inter"/>
                        </a:rPr>
                        <a:t>Operación mensual (Supabase + Vercel)</a:t>
                      </a:r>
                    </a:p>
                  </a:txBody>
                  <a:tcPr anchor="ctr" marL="76200" marR="76200" marT="50800" marB="50800">
                    <a:solidFill>
                      <a:srgbClr val="FFFFFF"/>
                    </a:solidFill>
                  </a:tcPr>
                </a:tc>
                <a:tc>
                  <a:txBody>
                    <a:bodyPr wrap="square"/>
                    <a:lstStyle/>
                    <a:p>
                      <a:pPr algn="l">
                        <a:lnSpc>
                          <a:spcPct val="105000"/>
                        </a:lnSpc>
                        <a:spcBef>
                          <a:spcPts val="0"/>
                        </a:spcBef>
                        <a:spcAft>
                          <a:spcPts val="0"/>
                        </a:spcAft>
                      </a:pPr>
                      <a:r>
                        <a:rPr sz="1400" b="1" i="0">
                          <a:solidFill>
                            <a:srgbClr val="C13F26"/>
                          </a:solidFill>
                          <a:latin typeface="Inter"/>
                        </a:rPr>
                        <a:t>aprox. $830 MXN/mes</a:t>
                      </a:r>
                    </a:p>
                  </a:txBody>
                  <a:tcPr anchor="ctr" marL="76200" marR="76200" marT="50800" marB="50800">
                    <a:solidFill>
                      <a:srgbClr val="FFFFFF"/>
                    </a:solidFill>
                  </a:tcPr>
                </a:tc>
                <a:tc>
                  <a:txBody>
                    <a:bodyPr wrap="square"/>
                    <a:lstStyle/>
                    <a:p>
                      <a:pPr algn="l">
                        <a:lnSpc>
                          <a:spcPct val="105000"/>
                        </a:lnSpc>
                        <a:spcBef>
                          <a:spcPts val="0"/>
                        </a:spcBef>
                        <a:spcAft>
                          <a:spcPts val="0"/>
                        </a:spcAft>
                      </a:pPr>
                      <a:r>
                        <a:rPr sz="1400" b="0" i="0">
                          <a:solidFill>
                            <a:srgbClr val="6B6B67"/>
                          </a:solidFill>
                          <a:latin typeface="Inter"/>
                        </a:rPr>
                        <a:t>Proyectado · ago. 2026</a:t>
                      </a:r>
                    </a:p>
                  </a:txBody>
                  <a:tcPr anchor="ctr" marL="76200" marR="76200" marT="50800" marB="50800">
                    <a:solidFill>
                      <a:srgbClr val="FFFFFF"/>
                    </a:solidFill>
                  </a:tcPr>
                </a:tc>
              </a:tr>
              <a:tr h="640000">
                <a:tc>
                  <a:txBody>
                    <a:bodyPr wrap="square"/>
                    <a:lstStyle/>
                    <a:p>
                      <a:pPr algn="l">
                        <a:lnSpc>
                          <a:spcPct val="105000"/>
                        </a:lnSpc>
                        <a:spcBef>
                          <a:spcPts val="0"/>
                        </a:spcBef>
                        <a:spcAft>
                          <a:spcPts val="0"/>
                        </a:spcAft>
                      </a:pPr>
                      <a:r>
                        <a:rPr sz="1400" b="0" i="0">
                          <a:solidFill>
                            <a:srgbClr val="141413"/>
                          </a:solidFill>
                          <a:latin typeface="Inter"/>
                        </a:rPr>
                        <a:t>Costo por venta</a:t>
                      </a:r>
                    </a:p>
                  </a:txBody>
                  <a:tcPr anchor="ctr" marL="76200" marR="76200" marT="50800" marB="50800">
                    <a:solidFill>
                      <a:srgbClr val="F0EEE8"/>
                    </a:solidFill>
                  </a:tcPr>
                </a:tc>
                <a:tc>
                  <a:txBody>
                    <a:bodyPr wrap="square"/>
                    <a:lstStyle/>
                    <a:p>
                      <a:pPr algn="l">
                        <a:lnSpc>
                          <a:spcPct val="105000"/>
                        </a:lnSpc>
                        <a:spcBef>
                          <a:spcPts val="0"/>
                        </a:spcBef>
                        <a:spcAft>
                          <a:spcPts val="0"/>
                        </a:spcAft>
                      </a:pPr>
                      <a:r>
                        <a:rPr sz="1400" b="1" i="0">
                          <a:solidFill>
                            <a:srgbClr val="C13F26"/>
                          </a:solidFill>
                          <a:latin typeface="Inter"/>
                        </a:rPr>
                        <a:t>aprox. $3.90 MXN por venta</a:t>
                      </a:r>
                    </a:p>
                  </a:txBody>
                  <a:tcPr anchor="ctr" marL="76200" marR="76200" marT="50800" marB="50800">
                    <a:solidFill>
                      <a:srgbClr val="F0EEE8"/>
                    </a:solidFill>
                  </a:tcPr>
                </a:tc>
                <a:tc>
                  <a:txBody>
                    <a:bodyPr wrap="square"/>
                    <a:lstStyle/>
                    <a:p>
                      <a:pPr algn="l">
                        <a:lnSpc>
                          <a:spcPct val="105000"/>
                        </a:lnSpc>
                        <a:spcBef>
                          <a:spcPts val="0"/>
                        </a:spcBef>
                        <a:spcAft>
                          <a:spcPts val="0"/>
                        </a:spcAft>
                      </a:pPr>
                      <a:r>
                        <a:rPr sz="1400" b="0" i="0">
                          <a:solidFill>
                            <a:srgbClr val="6B6B67"/>
                          </a:solidFill>
                          <a:latin typeface="Inter"/>
                        </a:rPr>
                        <a:t>Calculado · supuesto de volumen</a:t>
                      </a:r>
                    </a:p>
                  </a:txBody>
                  <a:tcPr anchor="ctr" marL="76200" marR="76200" marT="50800" marB="50800">
                    <a:solidFill>
                      <a:srgbClr val="F0EEE8"/>
                    </a:solidFill>
                  </a:tcPr>
                </a:tc>
              </a:tr>
            </a:tbl>
          </a:graphicData>
        </a:graphic>
      </p:graphicFrame>
      <p:sp>
        <p:nvSpPr>
          <p:cNvPr id="12" name="TextBox 11"/>
          <p:cNvSpPr txBox="1"/>
          <p:nvPr/>
        </p:nvSpPr>
        <p:spPr>
          <a:xfrm>
            <a:off x="5872960" y="5700000"/>
            <a:ext cx="5496080" cy="700000"/>
          </a:xfrm>
          <a:prstGeom prst="rect">
            <a:avLst/>
          </a:prstGeom>
          <a:noFill/>
        </p:spPr>
        <p:txBody>
          <a:bodyPr wrap="square" anchor="t" lIns="0" rIns="0" tIns="0" bIns="0">
            <a:spAutoFit/>
          </a:bodyPr>
          <a:lstStyle/>
          <a:p>
            <a:pPr algn="l">
              <a:lnSpc>
                <a:spcPct val="120000"/>
              </a:lnSpc>
              <a:spcBef>
                <a:spcPts val="0"/>
              </a:spcBef>
              <a:spcAft>
                <a:spcPts val="0"/>
              </a:spcAft>
            </a:pPr>
            <a:r>
              <a:rPr sz="1150" b="0" i="1">
                <a:solidFill>
                  <a:srgbClr val="6B6B67"/>
                </a:solidFill>
                <a:latin typeface="Inter"/>
              </a:rPr>
              <a:t>Retorno esperado: todavía no calculable de forma defendible. Sin precio decidido, solo principios: sin comisión por transacción, precio fijo o estacional.</a:t>
            </a:r>
          </a:p>
        </p:txBody>
      </p:sp>
    </p:spTree>
  </p:cSld>
  <p:clrMapOvr>
    <a:masterClrMapping/>
  </p:clrMapOvr>
  <p:transition spd="med">
    <p:wipe dir="l"/>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414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11480"/>
            <a:ext cx="8000000" cy="700000"/>
          </a:xfrm>
          <a:prstGeom prst="rect">
            <a:avLst/>
          </a:prstGeom>
          <a:noFill/>
        </p:spPr>
        <p:txBody>
          <a:bodyPr wrap="square" anchor="t" lIns="0" rIns="0" tIns="0" bIns="0">
            <a:spAutoFit/>
          </a:bodyPr>
          <a:lstStyle/>
          <a:p>
            <a:pPr algn="l">
              <a:spcBef>
                <a:spcPts val="0"/>
              </a:spcBef>
              <a:spcAft>
                <a:spcPts val="0"/>
              </a:spcAft>
            </a:pPr>
            <a:r>
              <a:rPr sz="4400" b="1" i="0">
                <a:solidFill>
                  <a:srgbClr val="FFFFFF"/>
                </a:solidFill>
                <a:latin typeface="Fredoka"/>
              </a:rPr>
              <a:t>Riesgos y bloqueos.</a:t>
            </a:r>
          </a:p>
        </p:txBody>
      </p:sp>
      <p:sp>
        <p:nvSpPr>
          <p:cNvPr id="4" name="TextBox 3"/>
          <p:cNvSpPr txBox="1"/>
          <p:nvPr/>
        </p:nvSpPr>
        <p:spPr>
          <a:xfrm>
            <a:off x="868680" y="1080000"/>
            <a:ext cx="10230000" cy="450000"/>
          </a:xfrm>
          <a:prstGeom prst="rect">
            <a:avLst/>
          </a:prstGeom>
          <a:noFill/>
        </p:spPr>
        <p:txBody>
          <a:bodyPr wrap="square" anchor="t" lIns="0" rIns="0" tIns="0" bIns="0">
            <a:spAutoFit/>
          </a:bodyPr>
          <a:lstStyle/>
          <a:p>
            <a:pPr algn="l">
              <a:lnSpc>
                <a:spcPct val="120000"/>
              </a:lnSpc>
              <a:spcBef>
                <a:spcPts val="0"/>
              </a:spcBef>
              <a:spcAft>
                <a:spcPts val="0"/>
              </a:spcAft>
            </a:pPr>
            <a:r>
              <a:rPr sz="1600" b="0" i="0">
                <a:solidFill>
                  <a:srgbClr val="C7C5C0"/>
                </a:solidFill>
                <a:latin typeface="Inter"/>
              </a:rPr>
              <a:t>Qué puede detener esto, y quién lo resuelve.</a:t>
            </a:r>
          </a:p>
        </p:txBody>
      </p:sp>
      <p:sp>
        <p:nvSpPr>
          <p:cNvPr id="5" name="TextBox 4"/>
          <p:cNvSpPr txBox="1"/>
          <p:nvPr/>
        </p:nvSpPr>
        <p:spPr>
          <a:xfrm>
            <a:off x="822960" y="1780000"/>
            <a:ext cx="6900000" cy="320000"/>
          </a:xfrm>
          <a:prstGeom prst="rect">
            <a:avLst/>
          </a:prstGeom>
          <a:noFill/>
        </p:spPr>
        <p:txBody>
          <a:bodyPr wrap="square" anchor="t" lIns="0" rIns="0" tIns="0" bIns="0">
            <a:spAutoFit/>
          </a:bodyPr>
          <a:lstStyle/>
          <a:p>
            <a:pPr algn="l">
              <a:spcBef>
                <a:spcPts val="0"/>
              </a:spcBef>
              <a:spcAft>
                <a:spcPts val="0"/>
              </a:spcAft>
            </a:pPr>
            <a:r>
              <a:rPr sz="1200" b="1" i="0">
                <a:solidFill>
                  <a:srgbClr val="C13F26"/>
                </a:solidFill>
                <a:latin typeface="Inter"/>
              </a:rPr>
              <a:t>C I N C O   R I E S G O S</a:t>
            </a:r>
          </a:p>
        </p:txBody>
      </p:sp>
      <p:graphicFrame>
        <p:nvGraphicFramePr>
          <p:cNvPr id="6" name="Table 5"/>
          <p:cNvGraphicFramePr>
            <a:graphicFrameLocks noGrp="1"/>
          </p:cNvGraphicFramePr>
          <p:nvPr/>
        </p:nvGraphicFramePr>
        <p:xfrm>
          <a:off x="822960" y="2200000"/>
          <a:ext cx="6900000" cy="4420000"/>
        </p:xfrm>
        <a:graphic>
          <a:graphicData uri="http://schemas.openxmlformats.org/drawingml/2006/table">
            <a:tbl>
              <a:tblPr>
                <a:tableStyleId>{5C22544A-7EE6-4342-B048-85BDC9FD1C3A}</a:tableStyleId>
              </a:tblPr>
              <a:tblGrid>
                <a:gridCol w="3564000"/>
                <a:gridCol w="1668000"/>
                <a:gridCol w="1668000"/>
              </a:tblGrid>
              <a:tr h="520000">
                <a:tc>
                  <a:txBody>
                    <a:bodyPr wrap="square"/>
                    <a:lstStyle/>
                    <a:p>
                      <a:pPr algn="l">
                        <a:lnSpc>
                          <a:spcPct val="105000"/>
                        </a:lnSpc>
                        <a:spcBef>
                          <a:spcPts val="0"/>
                        </a:spcBef>
                        <a:spcAft>
                          <a:spcPts val="0"/>
                        </a:spcAft>
                      </a:pPr>
                      <a:r>
                        <a:rPr sz="1400" b="1" i="0">
                          <a:solidFill>
                            <a:srgbClr val="C7C5C0"/>
                          </a:solidFill>
                          <a:latin typeface="Inter"/>
                        </a:rPr>
                        <a:t>Riesgo</a:t>
                      </a:r>
                    </a:p>
                  </a:txBody>
                  <a:tcPr anchor="ctr" marL="76200" marR="76200" marT="50800" marB="50800">
                    <a:solidFill>
                      <a:srgbClr val="1D1D1B"/>
                    </a:solidFill>
                  </a:tcPr>
                </a:tc>
                <a:tc>
                  <a:txBody>
                    <a:bodyPr wrap="square"/>
                    <a:lstStyle/>
                    <a:p>
                      <a:pPr algn="l">
                        <a:lnSpc>
                          <a:spcPct val="105000"/>
                        </a:lnSpc>
                        <a:spcBef>
                          <a:spcPts val="0"/>
                        </a:spcBef>
                        <a:spcAft>
                          <a:spcPts val="0"/>
                        </a:spcAft>
                      </a:pPr>
                      <a:r>
                        <a:rPr sz="1400" b="1" i="0">
                          <a:solidFill>
                            <a:srgbClr val="C7C5C0"/>
                          </a:solidFill>
                          <a:latin typeface="Inter"/>
                        </a:rPr>
                        <a:t>Probabilidad</a:t>
                      </a:r>
                    </a:p>
                  </a:txBody>
                  <a:tcPr anchor="ctr" marL="76200" marR="76200" marT="50800" marB="50800">
                    <a:solidFill>
                      <a:srgbClr val="1D1D1B"/>
                    </a:solidFill>
                  </a:tcPr>
                </a:tc>
                <a:tc>
                  <a:txBody>
                    <a:bodyPr wrap="square"/>
                    <a:lstStyle/>
                    <a:p>
                      <a:pPr algn="l">
                        <a:lnSpc>
                          <a:spcPct val="105000"/>
                        </a:lnSpc>
                        <a:spcBef>
                          <a:spcPts val="0"/>
                        </a:spcBef>
                        <a:spcAft>
                          <a:spcPts val="0"/>
                        </a:spcAft>
                      </a:pPr>
                      <a:r>
                        <a:rPr sz="1400" b="1" i="0">
                          <a:solidFill>
                            <a:srgbClr val="C7C5C0"/>
                          </a:solidFill>
                          <a:latin typeface="Inter"/>
                        </a:rPr>
                        <a:t>Impacto</a:t>
                      </a:r>
                    </a:p>
                  </a:txBody>
                  <a:tcPr anchor="ctr" marL="76200" marR="76200" marT="50800" marB="50800">
                    <a:solidFill>
                      <a:srgbClr val="1D1D1B"/>
                    </a:solidFill>
                  </a:tcPr>
                </a:tc>
              </a:tr>
              <a:tr h="780000">
                <a:tc>
                  <a:txBody>
                    <a:bodyPr wrap="square"/>
                    <a:lstStyle/>
                    <a:p>
                      <a:pPr algn="l">
                        <a:lnSpc>
                          <a:spcPct val="110000"/>
                        </a:lnSpc>
                        <a:spcBef>
                          <a:spcPts val="0"/>
                        </a:spcBef>
                        <a:spcAft>
                          <a:spcPts val="0"/>
                        </a:spcAft>
                      </a:pPr>
                      <a:r>
                        <a:rPr sz="1400" b="1" i="0">
                          <a:solidFill>
                            <a:srgbClr val="C13F26"/>
                          </a:solidFill>
                          <a:latin typeface="Fredoka"/>
                        </a:rPr>
                        <a:t>A  </a:t>
                      </a:r>
                      <a:r>
                        <a:rPr sz="1400" b="0" i="0">
                          <a:solidFill>
                            <a:srgbClr val="FFFFFF"/>
                          </a:solidFill>
                          <a:latin typeface="Inter"/>
                        </a:rPr>
                        <a:t>Dependencia de un solo proveedor de infraestructura (Supabase + Vercel)</a:t>
                      </a:r>
                    </a:p>
                  </a:txBody>
                  <a:tcPr anchor="ctr" marL="76200" marR="76200" marT="50800" marB="50800">
                    <a:solidFill>
                      <a:srgbClr val="141413"/>
                    </a:solidFill>
                  </a:tcPr>
                </a:tc>
                <a:tc>
                  <a:txBody>
                    <a:bodyPr wrap="square"/>
                    <a:lstStyle/>
                    <a:p>
                      <a:pPr algn="ctr">
                        <a:lnSpc>
                          <a:spcPct val="105000"/>
                        </a:lnSpc>
                        <a:spcBef>
                          <a:spcPts val="0"/>
                        </a:spcBef>
                        <a:spcAft>
                          <a:spcPts val="0"/>
                        </a:spcAft>
                      </a:pPr>
                      <a:r>
                        <a:rPr sz="1400" b="1" i="0">
                          <a:solidFill>
                            <a:srgbClr val="FFFFFF"/>
                          </a:solidFill>
                          <a:latin typeface="Inter"/>
                        </a:rPr>
                        <a:t>Alta</a:t>
                      </a:r>
                    </a:p>
                  </a:txBody>
                  <a:tcPr anchor="ctr" marL="76200" marR="76200" marT="50800" marB="50800">
                    <a:solidFill>
                      <a:srgbClr val="A72C2C"/>
                    </a:solidFill>
                  </a:tcPr>
                </a:tc>
                <a:tc>
                  <a:txBody>
                    <a:bodyPr wrap="square"/>
                    <a:lstStyle/>
                    <a:p>
                      <a:pPr algn="ctr">
                        <a:lnSpc>
                          <a:spcPct val="105000"/>
                        </a:lnSpc>
                        <a:spcBef>
                          <a:spcPts val="0"/>
                        </a:spcBef>
                        <a:spcAft>
                          <a:spcPts val="0"/>
                        </a:spcAft>
                      </a:pPr>
                      <a:r>
                        <a:rPr sz="1400" b="1" i="0">
                          <a:solidFill>
                            <a:srgbClr val="FFFFFF"/>
                          </a:solidFill>
                          <a:latin typeface="Inter"/>
                        </a:rPr>
                        <a:t>Alta</a:t>
                      </a:r>
                    </a:p>
                  </a:txBody>
                  <a:tcPr anchor="ctr" marL="76200" marR="76200" marT="50800" marB="50800">
                    <a:solidFill>
                      <a:srgbClr val="A72C2C"/>
                    </a:solidFill>
                  </a:tcPr>
                </a:tc>
              </a:tr>
              <a:tr h="780000">
                <a:tc>
                  <a:txBody>
                    <a:bodyPr wrap="square"/>
                    <a:lstStyle/>
                    <a:p>
                      <a:pPr algn="l">
                        <a:lnSpc>
                          <a:spcPct val="110000"/>
                        </a:lnSpc>
                        <a:spcBef>
                          <a:spcPts val="0"/>
                        </a:spcBef>
                        <a:spcAft>
                          <a:spcPts val="0"/>
                        </a:spcAft>
                      </a:pPr>
                      <a:r>
                        <a:rPr sz="1400" b="1" i="0">
                          <a:solidFill>
                            <a:srgbClr val="C13F26"/>
                          </a:solidFill>
                          <a:latin typeface="Fredoka"/>
                        </a:rPr>
                        <a:t>B  </a:t>
                      </a:r>
                      <a:r>
                        <a:rPr sz="1400" b="0" i="0">
                          <a:solidFill>
                            <a:srgbClr val="FFFFFF"/>
                          </a:solidFill>
                          <a:latin typeface="Inter"/>
                        </a:rPr>
                        <a:t>Datos sensibles de comerciantes y clientes expuestos</a:t>
                      </a:r>
                    </a:p>
                  </a:txBody>
                  <a:tcPr anchor="ctr" marL="76200" marR="76200" marT="50800" marB="50800">
                    <a:solidFill>
                      <a:srgbClr val="1D1D1B"/>
                    </a:solidFill>
                  </a:tcPr>
                </a:tc>
                <a:tc>
                  <a:txBody>
                    <a:bodyPr wrap="square"/>
                    <a:lstStyle/>
                    <a:p>
                      <a:pPr algn="ctr">
                        <a:lnSpc>
                          <a:spcPct val="105000"/>
                        </a:lnSpc>
                        <a:spcBef>
                          <a:spcPts val="0"/>
                        </a:spcBef>
                        <a:spcAft>
                          <a:spcPts val="0"/>
                        </a:spcAft>
                      </a:pPr>
                      <a:r>
                        <a:rPr sz="1400" b="1" i="0">
                          <a:solidFill>
                            <a:srgbClr val="FFFFFF"/>
                          </a:solidFill>
                          <a:latin typeface="Inter"/>
                        </a:rPr>
                        <a:t>Baja hoy</a:t>
                      </a:r>
                    </a:p>
                  </a:txBody>
                  <a:tcPr anchor="ctr" marL="76200" marR="76200" marT="50800" marB="50800">
                    <a:solidFill>
                      <a:srgbClr val="2E7D46"/>
                    </a:solidFill>
                  </a:tcPr>
                </a:tc>
                <a:tc>
                  <a:txBody>
                    <a:bodyPr wrap="square"/>
                    <a:lstStyle/>
                    <a:p>
                      <a:pPr algn="ctr">
                        <a:lnSpc>
                          <a:spcPct val="105000"/>
                        </a:lnSpc>
                        <a:spcBef>
                          <a:spcPts val="0"/>
                        </a:spcBef>
                        <a:spcAft>
                          <a:spcPts val="0"/>
                        </a:spcAft>
                      </a:pPr>
                      <a:r>
                        <a:rPr sz="1400" b="1" i="0">
                          <a:solidFill>
                            <a:srgbClr val="FFFFFF"/>
                          </a:solidFill>
                          <a:latin typeface="Inter"/>
                        </a:rPr>
                        <a:t>Alta</a:t>
                      </a:r>
                    </a:p>
                  </a:txBody>
                  <a:tcPr anchor="ctr" marL="76200" marR="76200" marT="50800" marB="50800">
                    <a:solidFill>
                      <a:srgbClr val="A72C2C"/>
                    </a:solidFill>
                  </a:tcPr>
                </a:tc>
              </a:tr>
              <a:tr h="780000">
                <a:tc>
                  <a:txBody>
                    <a:bodyPr wrap="square"/>
                    <a:lstStyle/>
                    <a:p>
                      <a:pPr algn="l">
                        <a:lnSpc>
                          <a:spcPct val="110000"/>
                        </a:lnSpc>
                        <a:spcBef>
                          <a:spcPts val="0"/>
                        </a:spcBef>
                        <a:spcAft>
                          <a:spcPts val="0"/>
                        </a:spcAft>
                      </a:pPr>
                      <a:r>
                        <a:rPr sz="1400" b="1" i="0">
                          <a:solidFill>
                            <a:srgbClr val="C13F26"/>
                          </a:solidFill>
                          <a:latin typeface="Fredoka"/>
                        </a:rPr>
                        <a:t>C  </a:t>
                      </a:r>
                      <a:r>
                        <a:rPr sz="1400" b="0" i="0">
                          <a:solidFill>
                            <a:srgbClr val="FFFFFF"/>
                          </a:solidFill>
                          <a:latin typeface="Inter"/>
                        </a:rPr>
                        <a:t>Adopción real no confirmada, el embudo de validación no está resuelto</a:t>
                      </a:r>
                    </a:p>
                  </a:txBody>
                  <a:tcPr anchor="ctr" marL="76200" marR="76200" marT="50800" marB="50800">
                    <a:solidFill>
                      <a:srgbClr val="141413"/>
                    </a:solidFill>
                  </a:tcPr>
                </a:tc>
                <a:tc>
                  <a:txBody>
                    <a:bodyPr wrap="square"/>
                    <a:lstStyle/>
                    <a:p>
                      <a:pPr algn="ctr">
                        <a:lnSpc>
                          <a:spcPct val="105000"/>
                        </a:lnSpc>
                        <a:spcBef>
                          <a:spcPts val="0"/>
                        </a:spcBef>
                        <a:spcAft>
                          <a:spcPts val="0"/>
                        </a:spcAft>
                      </a:pPr>
                      <a:r>
                        <a:rPr sz="1400" b="1" i="0">
                          <a:solidFill>
                            <a:srgbClr val="FFFFFF"/>
                          </a:solidFill>
                          <a:latin typeface="Inter"/>
                        </a:rPr>
                        <a:t>Alta (ya está ocurriendo)</a:t>
                      </a:r>
                    </a:p>
                  </a:txBody>
                  <a:tcPr anchor="ctr" marL="76200" marR="76200" marT="50800" marB="50800">
                    <a:solidFill>
                      <a:srgbClr val="A72C2C"/>
                    </a:solidFill>
                  </a:tcPr>
                </a:tc>
                <a:tc>
                  <a:txBody>
                    <a:bodyPr wrap="square"/>
                    <a:lstStyle/>
                    <a:p>
                      <a:pPr algn="ctr">
                        <a:lnSpc>
                          <a:spcPct val="105000"/>
                        </a:lnSpc>
                        <a:spcBef>
                          <a:spcPts val="0"/>
                        </a:spcBef>
                        <a:spcAft>
                          <a:spcPts val="0"/>
                        </a:spcAft>
                      </a:pPr>
                      <a:r>
                        <a:rPr sz="1400" b="1" i="0">
                          <a:solidFill>
                            <a:srgbClr val="FFFFFF"/>
                          </a:solidFill>
                          <a:latin typeface="Inter"/>
                        </a:rPr>
                        <a:t>Alta</a:t>
                      </a:r>
                    </a:p>
                  </a:txBody>
                  <a:tcPr anchor="ctr" marL="76200" marR="76200" marT="50800" marB="50800">
                    <a:solidFill>
                      <a:srgbClr val="A72C2C"/>
                    </a:solidFill>
                  </a:tcPr>
                </a:tc>
              </a:tr>
              <a:tr h="780000">
                <a:tc>
                  <a:txBody>
                    <a:bodyPr wrap="square"/>
                    <a:lstStyle/>
                    <a:p>
                      <a:pPr algn="l">
                        <a:lnSpc>
                          <a:spcPct val="110000"/>
                        </a:lnSpc>
                        <a:spcBef>
                          <a:spcPts val="0"/>
                        </a:spcBef>
                        <a:spcAft>
                          <a:spcPts val="0"/>
                        </a:spcAft>
                      </a:pPr>
                      <a:r>
                        <a:rPr sz="1400" b="1" i="0">
                          <a:solidFill>
                            <a:srgbClr val="C13F26"/>
                          </a:solidFill>
                          <a:latin typeface="Fredoka"/>
                        </a:rPr>
                        <a:t>D  </a:t>
                      </a:r>
                      <a:r>
                        <a:rPr sz="1400" b="0" i="0">
                          <a:solidFill>
                            <a:srgbClr val="FFFFFF"/>
                          </a:solidFill>
                          <a:latin typeface="Inter"/>
                        </a:rPr>
                        <a:t>Modelo de precios todavía no decidido</a:t>
                      </a:r>
                    </a:p>
                  </a:txBody>
                  <a:tcPr anchor="ctr" marL="76200" marR="76200" marT="50800" marB="50800">
                    <a:solidFill>
                      <a:srgbClr val="1D1D1B"/>
                    </a:solidFill>
                  </a:tcPr>
                </a:tc>
                <a:tc>
                  <a:txBody>
                    <a:bodyPr wrap="square"/>
                    <a:lstStyle/>
                    <a:p>
                      <a:pPr algn="ctr">
                        <a:lnSpc>
                          <a:spcPct val="105000"/>
                        </a:lnSpc>
                        <a:spcBef>
                          <a:spcPts val="0"/>
                        </a:spcBef>
                        <a:spcAft>
                          <a:spcPts val="0"/>
                        </a:spcAft>
                      </a:pPr>
                      <a:r>
                        <a:rPr sz="1400" b="1" i="0">
                          <a:solidFill>
                            <a:srgbClr val="FFFFFF"/>
                          </a:solidFill>
                          <a:latin typeface="Inter"/>
                        </a:rPr>
                        <a:t>Media</a:t>
                      </a:r>
                    </a:p>
                  </a:txBody>
                  <a:tcPr anchor="ctr" marL="76200" marR="76200" marT="50800" marB="50800">
                    <a:solidFill>
                      <a:srgbClr val="C8811A"/>
                    </a:solidFill>
                  </a:tcPr>
                </a:tc>
                <a:tc>
                  <a:txBody>
                    <a:bodyPr wrap="square"/>
                    <a:lstStyle/>
                    <a:p>
                      <a:pPr algn="ctr">
                        <a:lnSpc>
                          <a:spcPct val="105000"/>
                        </a:lnSpc>
                        <a:spcBef>
                          <a:spcPts val="0"/>
                        </a:spcBef>
                        <a:spcAft>
                          <a:spcPts val="0"/>
                        </a:spcAft>
                      </a:pPr>
                      <a:r>
                        <a:rPr sz="1400" b="1" i="0">
                          <a:solidFill>
                            <a:srgbClr val="FFFFFF"/>
                          </a:solidFill>
                          <a:latin typeface="Inter"/>
                        </a:rPr>
                        <a:t>Media a Alta</a:t>
                      </a:r>
                    </a:p>
                  </a:txBody>
                  <a:tcPr anchor="ctr" marL="76200" marR="76200" marT="50800" marB="50800">
                    <a:solidFill>
                      <a:srgbClr val="C8811A"/>
                    </a:solidFill>
                  </a:tcPr>
                </a:tc>
              </a:tr>
              <a:tr h="780000">
                <a:tc>
                  <a:txBody>
                    <a:bodyPr wrap="square"/>
                    <a:lstStyle/>
                    <a:p>
                      <a:pPr algn="l">
                        <a:lnSpc>
                          <a:spcPct val="110000"/>
                        </a:lnSpc>
                        <a:spcBef>
                          <a:spcPts val="0"/>
                        </a:spcBef>
                        <a:spcAft>
                          <a:spcPts val="0"/>
                        </a:spcAft>
                      </a:pPr>
                      <a:r>
                        <a:rPr sz="1400" b="1" i="0">
                          <a:solidFill>
                            <a:srgbClr val="C13F26"/>
                          </a:solidFill>
                          <a:latin typeface="Fredoka"/>
                        </a:rPr>
                        <a:t>E  </a:t>
                      </a:r>
                      <a:r>
                        <a:rPr sz="1400" b="0" i="0">
                          <a:solidFill>
                            <a:srgbClr val="FFFFFF"/>
                          </a:solidFill>
                          <a:latin typeface="Inter"/>
                        </a:rPr>
                        <a:t>Sesgo en futuras recomendaciones proactivas (visión de largo plazo, aún no construida)</a:t>
                      </a:r>
                    </a:p>
                  </a:txBody>
                  <a:tcPr anchor="ctr" marL="76200" marR="76200" marT="50800" marB="50800">
                    <a:solidFill>
                      <a:srgbClr val="141413"/>
                    </a:solidFill>
                  </a:tcPr>
                </a:tc>
                <a:tc>
                  <a:txBody>
                    <a:bodyPr wrap="square"/>
                    <a:lstStyle/>
                    <a:p>
                      <a:pPr algn="ctr">
                        <a:lnSpc>
                          <a:spcPct val="105000"/>
                        </a:lnSpc>
                        <a:spcBef>
                          <a:spcPts val="0"/>
                        </a:spcBef>
                        <a:spcAft>
                          <a:spcPts val="0"/>
                        </a:spcAft>
                      </a:pPr>
                      <a:r>
                        <a:rPr sz="1400" b="1" i="0">
                          <a:solidFill>
                            <a:srgbClr val="FFFFFF"/>
                          </a:solidFill>
                          <a:latin typeface="Inter"/>
                        </a:rPr>
                        <a:t>Baja (aún no existe)</a:t>
                      </a:r>
                    </a:p>
                  </a:txBody>
                  <a:tcPr anchor="ctr" marL="76200" marR="76200" marT="50800" marB="50800">
                    <a:solidFill>
                      <a:srgbClr val="2E7D46"/>
                    </a:solidFill>
                  </a:tcPr>
                </a:tc>
                <a:tc>
                  <a:txBody>
                    <a:bodyPr wrap="square"/>
                    <a:lstStyle/>
                    <a:p>
                      <a:pPr algn="ctr">
                        <a:lnSpc>
                          <a:spcPct val="105000"/>
                        </a:lnSpc>
                        <a:spcBef>
                          <a:spcPts val="0"/>
                        </a:spcBef>
                        <a:spcAft>
                          <a:spcPts val="0"/>
                        </a:spcAft>
                      </a:pPr>
                      <a:r>
                        <a:rPr sz="1400" b="1" i="0">
                          <a:solidFill>
                            <a:srgbClr val="FFFFFF"/>
                          </a:solidFill>
                          <a:latin typeface="Inter"/>
                        </a:rPr>
                        <a:t>Alta</a:t>
                      </a:r>
                    </a:p>
                  </a:txBody>
                  <a:tcPr anchor="ctr" marL="76200" marR="76200" marT="50800" marB="50800">
                    <a:solidFill>
                      <a:srgbClr val="A72C2C"/>
                    </a:solidFill>
                  </a:tcPr>
                </a:tc>
              </a:tr>
            </a:tbl>
          </a:graphicData>
        </a:graphic>
      </p:graphicFrame>
      <p:sp>
        <p:nvSpPr>
          <p:cNvPr id="7" name="TextBox 6"/>
          <p:cNvSpPr txBox="1"/>
          <p:nvPr/>
        </p:nvSpPr>
        <p:spPr>
          <a:xfrm>
            <a:off x="8172960" y="1780000"/>
            <a:ext cx="3196080" cy="320000"/>
          </a:xfrm>
          <a:prstGeom prst="rect">
            <a:avLst/>
          </a:prstGeom>
          <a:noFill/>
        </p:spPr>
        <p:txBody>
          <a:bodyPr wrap="square" anchor="t" lIns="0" rIns="0" tIns="0" bIns="0">
            <a:spAutoFit/>
          </a:bodyPr>
          <a:lstStyle/>
          <a:p>
            <a:pPr algn="l">
              <a:spcBef>
                <a:spcPts val="0"/>
              </a:spcBef>
              <a:spcAft>
                <a:spcPts val="0"/>
              </a:spcAft>
            </a:pPr>
            <a:r>
              <a:rPr sz="1200" b="1" i="0">
                <a:solidFill>
                  <a:srgbClr val="C13F26"/>
                </a:solidFill>
                <a:latin typeface="Inter"/>
              </a:rPr>
              <a:t>B L O Q U E O S</a:t>
            </a:r>
          </a:p>
        </p:txBody>
      </p:sp>
      <p:sp>
        <p:nvSpPr>
          <p:cNvPr id="8" name="TextBox 7"/>
          <p:cNvSpPr txBox="1"/>
          <p:nvPr/>
        </p:nvSpPr>
        <p:spPr>
          <a:xfrm>
            <a:off x="8172960" y="2200000"/>
            <a:ext cx="3196080" cy="900000"/>
          </a:xfrm>
          <a:prstGeom prst="rect">
            <a:avLst/>
          </a:prstGeom>
          <a:noFill/>
        </p:spPr>
        <p:txBody>
          <a:bodyPr wrap="square" anchor="t" lIns="0" rIns="0" tIns="0" bIns="0">
            <a:spAutoFit/>
          </a:bodyPr>
          <a:lstStyle/>
          <a:p>
            <a:pPr algn="l">
              <a:lnSpc>
                <a:spcPct val="115000"/>
              </a:lnSpc>
              <a:spcBef>
                <a:spcPts val="0"/>
              </a:spcBef>
              <a:spcAft>
                <a:spcPts val="0"/>
              </a:spcAft>
            </a:pPr>
            <a:r>
              <a:rPr sz="1400" b="1" i="0">
                <a:solidFill>
                  <a:srgbClr val="C13F26"/>
                </a:solidFill>
                <a:latin typeface="Fredoka"/>
              </a:rPr>
              <a:t>(B) </a:t>
            </a:r>
            <a:r>
              <a:rPr sz="1400" b="1" i="0">
                <a:solidFill>
                  <a:srgbClr val="FFFFFF"/>
                </a:solidFill>
                <a:latin typeface="Fredoka"/>
              </a:rPr>
              <a:t>Legal y cumplimiento</a:t>
            </a:r>
          </a:p>
          <a:p>
            <a:pPr algn="l">
              <a:lnSpc>
                <a:spcPct val="120000"/>
              </a:lnSpc>
              <a:spcBef>
                <a:spcPts val="200"/>
              </a:spcBef>
              <a:spcAft>
                <a:spcPts val="0"/>
              </a:spcAft>
            </a:pPr>
            <a:r>
              <a:rPr sz="1400" b="0" i="0">
                <a:solidFill>
                  <a:srgbClr val="C7C5C0"/>
                </a:solidFill>
                <a:latin typeface="Inter"/>
              </a:rPr>
              <a:t>Aviso de privacidad explícito antes de recolectar cualquier dato de clientes.</a:t>
            </a:r>
          </a:p>
        </p:txBody>
      </p:sp>
      <p:sp>
        <p:nvSpPr>
          <p:cNvPr id="9" name="TextBox 8"/>
          <p:cNvSpPr txBox="1"/>
          <p:nvPr/>
        </p:nvSpPr>
        <p:spPr>
          <a:xfrm>
            <a:off x="8172960" y="3280000"/>
            <a:ext cx="3196080" cy="900000"/>
          </a:xfrm>
          <a:prstGeom prst="rect">
            <a:avLst/>
          </a:prstGeom>
          <a:noFill/>
        </p:spPr>
        <p:txBody>
          <a:bodyPr wrap="square" anchor="t" lIns="0" rIns="0" tIns="0" bIns="0">
            <a:spAutoFit/>
          </a:bodyPr>
          <a:lstStyle/>
          <a:p>
            <a:pPr algn="l">
              <a:lnSpc>
                <a:spcPct val="115000"/>
              </a:lnSpc>
              <a:spcBef>
                <a:spcPts val="0"/>
              </a:spcBef>
              <a:spcAft>
                <a:spcPts val="0"/>
              </a:spcAft>
            </a:pPr>
            <a:r>
              <a:rPr sz="1400" b="1" i="0">
                <a:solidFill>
                  <a:srgbClr val="C13F26"/>
                </a:solidFill>
                <a:latin typeface="Fredoka"/>
              </a:rPr>
              <a:t>(A) </a:t>
            </a:r>
            <a:r>
              <a:rPr sz="1400" b="1" i="0">
                <a:solidFill>
                  <a:srgbClr val="FFFFFF"/>
                </a:solidFill>
                <a:latin typeface="Fredoka"/>
              </a:rPr>
              <a:t>TI y seguridad</a:t>
            </a:r>
          </a:p>
          <a:p>
            <a:pPr algn="l">
              <a:lnSpc>
                <a:spcPct val="120000"/>
              </a:lnSpc>
              <a:spcBef>
                <a:spcPts val="200"/>
              </a:spcBef>
              <a:spcAft>
                <a:spcPts val="0"/>
              </a:spcAft>
            </a:pPr>
            <a:r>
              <a:rPr sz="1400" b="0" i="0">
                <a:solidFill>
                  <a:srgbClr val="C7C5C0"/>
                </a:solidFill>
                <a:latin typeface="Inter"/>
              </a:rPr>
              <a:t>Exportación periódica de datos fuera de Supabase, antes de comprometerme más allá del piloto.</a:t>
            </a:r>
          </a:p>
        </p:txBody>
      </p:sp>
      <p:sp>
        <p:nvSpPr>
          <p:cNvPr id="10" name="TextBox 9"/>
          <p:cNvSpPr txBox="1"/>
          <p:nvPr/>
        </p:nvSpPr>
        <p:spPr>
          <a:xfrm>
            <a:off x="8172960" y="4360000"/>
            <a:ext cx="3196080" cy="900000"/>
          </a:xfrm>
          <a:prstGeom prst="rect">
            <a:avLst/>
          </a:prstGeom>
          <a:noFill/>
        </p:spPr>
        <p:txBody>
          <a:bodyPr wrap="square" anchor="t" lIns="0" rIns="0" tIns="0" bIns="0">
            <a:spAutoFit/>
          </a:bodyPr>
          <a:lstStyle/>
          <a:p>
            <a:pPr algn="l">
              <a:lnSpc>
                <a:spcPct val="115000"/>
              </a:lnSpc>
              <a:spcBef>
                <a:spcPts val="0"/>
              </a:spcBef>
              <a:spcAft>
                <a:spcPts val="0"/>
              </a:spcAft>
            </a:pPr>
            <a:r>
              <a:rPr sz="1400" b="1" i="0">
                <a:solidFill>
                  <a:srgbClr val="C13F26"/>
                </a:solidFill>
                <a:latin typeface="Fredoka"/>
              </a:rPr>
              <a:t>(D) </a:t>
            </a:r>
            <a:r>
              <a:rPr sz="1400" b="1" i="0">
                <a:solidFill>
                  <a:srgbClr val="FFFFFF"/>
                </a:solidFill>
                <a:latin typeface="Fredoka"/>
              </a:rPr>
              <a:t>Finanzas</a:t>
            </a:r>
          </a:p>
          <a:p>
            <a:pPr algn="l">
              <a:lnSpc>
                <a:spcPct val="120000"/>
              </a:lnSpc>
              <a:spcBef>
                <a:spcPts val="200"/>
              </a:spcBef>
              <a:spcAft>
                <a:spcPts val="0"/>
              </a:spcAft>
            </a:pPr>
            <a:r>
              <a:rPr sz="1400" b="0" i="0">
                <a:solidFill>
                  <a:srgbClr val="C7C5C0"/>
                </a:solidFill>
                <a:latin typeface="Inter"/>
              </a:rPr>
              <a:t>Investigación de precios comparables de SaaS para pequeños comerciantes en México.</a:t>
            </a:r>
          </a:p>
        </p:txBody>
      </p:sp>
      <p:sp>
        <p:nvSpPr>
          <p:cNvPr id="11" name="TextBox 10"/>
          <p:cNvSpPr txBox="1"/>
          <p:nvPr/>
        </p:nvSpPr>
        <p:spPr>
          <a:xfrm>
            <a:off x="8172960" y="5440000"/>
            <a:ext cx="3196080" cy="900000"/>
          </a:xfrm>
          <a:prstGeom prst="rect">
            <a:avLst/>
          </a:prstGeom>
          <a:noFill/>
        </p:spPr>
        <p:txBody>
          <a:bodyPr wrap="square" anchor="t" lIns="0" rIns="0" tIns="0" bIns="0">
            <a:spAutoFit/>
          </a:bodyPr>
          <a:lstStyle/>
          <a:p>
            <a:pPr algn="l">
              <a:lnSpc>
                <a:spcPct val="115000"/>
              </a:lnSpc>
              <a:spcBef>
                <a:spcPts val="0"/>
              </a:spcBef>
              <a:spcAft>
                <a:spcPts val="0"/>
              </a:spcAft>
            </a:pPr>
            <a:r>
              <a:rPr sz="1400" b="1" i="0">
                <a:solidFill>
                  <a:srgbClr val="C13F26"/>
                </a:solidFill>
                <a:latin typeface="Fredoka"/>
              </a:rPr>
              <a:t>(C) </a:t>
            </a:r>
            <a:r>
              <a:rPr sz="1400" b="1" i="0">
                <a:solidFill>
                  <a:srgbClr val="FFFFFF"/>
                </a:solidFill>
                <a:latin typeface="Fredoka"/>
              </a:rPr>
              <a:t>No es un bloqueo externo</a:t>
            </a:r>
          </a:p>
          <a:p>
            <a:pPr algn="l">
              <a:lnSpc>
                <a:spcPct val="120000"/>
              </a:lnSpc>
              <a:spcBef>
                <a:spcPts val="200"/>
              </a:spcBef>
              <a:spcAft>
                <a:spcPts val="0"/>
              </a:spcAft>
            </a:pPr>
            <a:r>
              <a:rPr sz="1400" b="0" i="0">
                <a:solidFill>
                  <a:srgbClr val="C7C5C0"/>
                </a:solidFill>
                <a:latin typeface="Inter"/>
              </a:rPr>
              <a:t>Me corresponde a mí resolverlo. El piloto Concierge/DM ya está en marcha.</a:t>
            </a:r>
          </a:p>
        </p:txBody>
      </p:sp>
    </p:spTree>
  </p:cSld>
  <p:clrMapOvr>
    <a:masterClrMapping/>
  </p:clrMapOvr>
  <p:transition spd="med">
    <p:cut/>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quipo-v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slow">
    <p:fade thruBlk="1"/>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414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iclo-v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push dir="u"/>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imeline-v2.png"/>
          <p:cNvPicPr>
            <a:picLocks noChangeAspect="1"/>
          </p:cNvPicPr>
          <p:nvPr/>
        </p:nvPicPr>
        <p:blipFill>
          <a:blip r:embed="rId2"/>
          <a:stretch>
            <a:fillRect/>
          </a:stretch>
        </p:blipFill>
        <p:spPr>
          <a:xfrm>
            <a:off x="109728" y="61722"/>
            <a:ext cx="11972544" cy="673455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414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981200" y="2788920"/>
            <a:ext cx="8229600" cy="1280160"/>
          </a:xfrm>
          <a:prstGeom prst="rect">
            <a:avLst/>
          </a:prstGeom>
          <a:noFill/>
        </p:spPr>
        <p:txBody>
          <a:bodyPr wrap="square" anchor="t" lIns="0" rIns="0" tIns="0" bIns="0">
            <a:spAutoFit/>
          </a:bodyPr>
          <a:lstStyle/>
          <a:p>
            <a:pPr algn="ctr">
              <a:spcBef>
                <a:spcPts val="0"/>
              </a:spcBef>
              <a:spcAft>
                <a:spcPts val="0"/>
              </a:spcAft>
            </a:pPr>
            <a:r>
              <a:rPr sz="7200" b="1" i="0">
                <a:solidFill>
                  <a:srgbClr val="FFFFFF"/>
                </a:solidFill>
                <a:latin typeface="Fredoka"/>
              </a:rPr>
              <a:t>Gracias.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