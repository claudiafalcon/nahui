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67" r:id="rId4"/>
    <p:sldId id="260" r:id="rId5"/>
    <p:sldId id="268" r:id="rId6"/>
    <p:sldId id="266"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3372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 texto hablado asignado — la portada es puramente visual: nombre, promesa, y los enlaces al prototipo en vivo y al repositorio, visibles sin contraseña.)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Buenas tardes. Me llamo Claudia y esto es Nahui, una aplicación de registro de ventas e inteligencia de negocio para vendedoras ambulantes en bazares de México. La construyo junto con Ana, que vende ropa en bazares privados en el Estado de México, mi piloto real desde el día uno.</a:t>
            </a:r>
          </a:p>
          <a:p>
            <a:endParaRPr/>
          </a:p>
          <a:p>
            <a:r>
              <a:t>El problema es simple de decir y muy real de vivir: en un bazar, el flujo de clientes es impredecible. Puede no llegar nadie en quince minutos, y de pronto llegan tres personas juntas. Si registrar una venta le toma a Ana más de unos segundos, ese tiempo no sale de la nada, sale de atender al siguiente cliente. Y casi siempre gana el cliente que tiene enfrente, no el registro. Por eso, durante años, ella limitó su propio catálogo, menos productos son más fáciles de llevar en la cabeza, y eso limitó cuánto podía crecer su negocio.</a:t>
            </a:r>
          </a:p>
          <a:p>
            <a:endParaRPr/>
          </a:p>
          <a:p>
            <a:r>
              <a:t>Pero quiero ser clara: resolver el registro rápido no es el objetivo final, es el punto de partida. Lo que realmente queremos es que Ana tome decisiones informadas sobre su negocio, y eso necesita datos que hoy no existen si ella no registra su día a día. No es solo sacarle la cuenta, para eso ya hay calculadoras. Es que cada venta registrada se convierta, con el tiempo, en inteligencia real sobre su negocio. Se la voy a demostrar en vivo, no solo a contar.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[Cambia a la pantalla, demo.nahui.app en vivo]</a:t>
            </a:r>
          </a:p>
          <a:p>
            <a:endParaRPr/>
          </a:p>
          <a:p>
            <a:r>
              <a:t>Esto que van a ver no es un mockup, es el prototipo real, funcionando, probado en persona con Ana. Aquí está el estado inicial: venta rápida, con las categorías que ella misma definió.</a:t>
            </a:r>
          </a:p>
          <a:p>
            <a:endParaRPr/>
          </a:p>
          <a:p>
            <a:r>
              <a:t>[Registra una venta en vivo: toca un par de productos]</a:t>
            </a:r>
          </a:p>
          <a:p>
            <a:endParaRPr/>
          </a:p>
          <a:p>
            <a:r>
              <a:t>Un toque por producto. El total se arma solo, en el momento exacto de la venta, sin que Ana tenga que hacer cuentas ni pausar para anotar nada. Menos de tres segundos.</a:t>
            </a:r>
          </a:p>
          <a:p>
            <a:endParaRPr/>
          </a:p>
          <a:p>
            <a:r>
              <a:t>[Finaliza la venta, muestra el recibo]</a:t>
            </a:r>
          </a:p>
          <a:p>
            <a:endParaRPr/>
          </a:p>
          <a:p>
            <a:r>
              <a:t>Y aquí queda guardada para siempre. Nunca más se pierde el registro de una venta, aunque llegue el siguiente cliente sin avisar, que es justo lo que pasa todo el tiempo en un bazar real.</a:t>
            </a:r>
          </a:p>
          <a:p>
            <a:endParaRPr/>
          </a:p>
          <a:p>
            <a:r>
              <a:t>Y aquí empieza lo que de verdad importa: esa venta no es solo un recibo, es un dato. Uno solo no dice mucho, pero cien ventas registradas ya le muestran a Ana patrones que hoy no puede ver, qué le vende más, qué días le va mejor. Por eso el registro rápido no es el producto, es lo que hace posible el producto.</a:t>
            </a:r>
          </a:p>
          <a:p>
            <a:endParaRPr/>
          </a:p>
          <a:p>
            <a:r>
              <a:t>(Nota: el texto hablado aquí es deliberadamente ligero, sobra tiempo a propósito para la interacción real con la app. Practica la demo por separado para saber cuánto tiempo real toma, y ajusta las pausas habladas, no al revés.)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Ahora la parte más honesta. Corrimos una campaña real de Meta, del 17 al 20 de agosto: 569 pesos gastados, casi 20 mil personas de alcance, 731 visitas a la página. Conseguir atención barata no es el problema.</a:t>
            </a:r>
          </a:p>
          <a:p>
            <a:endParaRPr/>
          </a:p>
          <a:p>
            <a:r>
              <a:t>Pero de 227 visitantes reales confirmados, con el embudo completo midiéndose desde el 19 de agosto, solo 2 llegaron a verificación. Cero comerciantes externos completaron el recorrido. La causa exacta todavía no está confirmada, por eso diseñé un piloto pequeño y controlado de conversación directa para averiguarlo, en marcha ahora mismo.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reto más grande no fue técnico, fue conseguir que alguien real, fuera de Ana y de mi propio equipo, cruzara la puerta — la campaña que acaban de ver lo confirma con datos. Todo esto lo construyo con un equipo de agentes de inteligencia artificial especializados, cada uno con su propia autoridad: esta misma semana, uno de ellos rechazó una instrucción que le daba permiso para escribir fuera de su alcance, aunque venía dentro de un mensaje de tarea, porque no podía verificarla como autorización real. Ese nivel de disciplina es lo que me deja construir rápido y seguir confiando en lo que construyo. Pero ni la mejor disciplina técnica resuelve la adopción sola — ese es el aprendizaje que más me ha costado.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¿Qué sigue? Primero, el piloto de conversación directa que ya mencioné, para entender de verdad por qué la gente no completa el registro. Segundo, ya rediseñé la secuencia de entrada para que un comercio calificado por esa conversación llegue a su primera venta antes de configurar nada, en vez de después. Y tercero, una decisión de precio que todavía tengo abierta. Nada de esto está resuelto del todo, y está bien decirlo así. Ahí les dejo el demo, en el enlace de la presentación, y el repositorio. Gracias.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77440"/>
            <a:ext cx="10515600" cy="1463040"/>
          </a:xfrm>
          <a:prstGeom prst="rect">
            <a:avLst/>
          </a:prstGeom>
          <a:noFill/>
        </p:spPr>
        <p:txBody>
          <a:bodyPr wrap="square" lIns="0" tIns="0" rIns="0" bIns="0" anchor="t">
            <a:spAutoFit/>
          </a:bodyPr>
          <a:lstStyle/>
          <a:p>
            <a:pPr algn="l">
              <a:spcBef>
                <a:spcPts val="0"/>
              </a:spcBef>
              <a:spcAft>
                <a:spcPts val="0"/>
              </a:spcAft>
            </a:pPr>
            <a:r>
              <a:rPr sz="9600" b="1" i="0">
                <a:solidFill>
                  <a:srgbClr val="FFFFFF"/>
                </a:solidFill>
                <a:latin typeface="Fredoka"/>
              </a:rPr>
              <a:t>Nahui</a:t>
            </a:r>
          </a:p>
        </p:txBody>
      </p:sp>
      <p:sp>
        <p:nvSpPr>
          <p:cNvPr id="4" name="TextBox 3"/>
          <p:cNvSpPr txBox="1"/>
          <p:nvPr/>
        </p:nvSpPr>
        <p:spPr>
          <a:xfrm>
            <a:off x="868680" y="3794760"/>
            <a:ext cx="8686800" cy="914400"/>
          </a:xfrm>
          <a:prstGeom prst="rect">
            <a:avLst/>
          </a:prstGeom>
          <a:noFill/>
        </p:spPr>
        <p:txBody>
          <a:bodyPr wrap="square" lIns="0" tIns="0" rIns="0" bIns="0" anchor="t">
            <a:spAutoFit/>
          </a:bodyPr>
          <a:lstStyle/>
          <a:p>
            <a:pPr algn="l">
              <a:lnSpc>
                <a:spcPct val="115000"/>
              </a:lnSpc>
              <a:spcBef>
                <a:spcPts val="0"/>
              </a:spcBef>
              <a:spcAft>
                <a:spcPts val="0"/>
              </a:spcAft>
            </a:pPr>
            <a:r>
              <a:rPr sz="2200" b="0" i="0">
                <a:solidFill>
                  <a:srgbClr val="FFFFFF"/>
                </a:solidFill>
                <a:latin typeface="Inter"/>
              </a:rPr>
              <a:t>El registro de una venta, en menos de 3 segundos, sin perder al siguiente cliente.</a:t>
            </a:r>
          </a:p>
        </p:txBody>
      </p:sp>
      <p:sp>
        <p:nvSpPr>
          <p:cNvPr id="5" name="TextBox 4"/>
          <p:cNvSpPr txBox="1"/>
          <p:nvPr/>
        </p:nvSpPr>
        <p:spPr>
          <a:xfrm>
            <a:off x="868680" y="6126480"/>
            <a:ext cx="7315200" cy="457200"/>
          </a:xfrm>
          <a:prstGeom prst="rect">
            <a:avLst/>
          </a:prstGeom>
          <a:noFill/>
        </p:spPr>
        <p:txBody>
          <a:bodyPr wrap="square" lIns="0" tIns="0" rIns="0" bIns="0" anchor="t">
            <a:spAutoFit/>
          </a:bodyPr>
          <a:lstStyle/>
          <a:p>
            <a:pPr algn="l">
              <a:spcBef>
                <a:spcPts val="0"/>
              </a:spcBef>
              <a:spcAft>
                <a:spcPts val="0"/>
              </a:spcAft>
            </a:pPr>
            <a:r>
              <a:rPr sz="1400" b="0" i="0">
                <a:solidFill>
                  <a:srgbClr val="F3D9D1"/>
                </a:solidFill>
                <a:latin typeface="Inter"/>
              </a:rPr>
              <a:t>Claudia Falcón · Demo Day · TI-4041</a:t>
            </a:r>
          </a:p>
        </p:txBody>
      </p:sp>
      <p:sp>
        <p:nvSpPr>
          <p:cNvPr id="6" name="TextBox 5"/>
          <p:cNvSpPr txBox="1"/>
          <p:nvPr/>
        </p:nvSpPr>
        <p:spPr>
          <a:xfrm>
            <a:off x="868680" y="4938840"/>
            <a:ext cx="9601200" cy="640080"/>
          </a:xfrm>
          <a:prstGeom prst="rect">
            <a:avLst/>
          </a:prstGeom>
          <a:noFill/>
        </p:spPr>
        <p:txBody>
          <a:bodyPr wrap="square">
            <a:spAutoFit/>
          </a:bodyPr>
          <a:lstStyle/>
          <a:p>
            <a:pPr algn="l"/>
            <a:r>
              <a:rPr sz="1500" b="1" i="0" dirty="0" err="1">
                <a:solidFill>
                  <a:srgbClr val="FFFFFF"/>
                </a:solidFill>
                <a:latin typeface="Inter"/>
              </a:rPr>
              <a:t>Prototipo</a:t>
            </a:r>
            <a:r>
              <a:rPr sz="1500" b="1" i="0" dirty="0">
                <a:solidFill>
                  <a:srgbClr val="FFFFFF"/>
                </a:solidFill>
                <a:latin typeface="Inter"/>
              </a:rPr>
              <a:t> </a:t>
            </a:r>
            <a:r>
              <a:rPr sz="1500" b="1" i="0" dirty="0" err="1">
                <a:solidFill>
                  <a:srgbClr val="FFFFFF"/>
                </a:solidFill>
                <a:latin typeface="Inter"/>
              </a:rPr>
              <a:t>en</a:t>
            </a:r>
            <a:r>
              <a:rPr sz="1500" b="1" i="0" dirty="0">
                <a:solidFill>
                  <a:srgbClr val="FFFFFF"/>
                </a:solidFill>
                <a:latin typeface="Inter"/>
              </a:rPr>
              <a:t> vivo: </a:t>
            </a:r>
            <a:r>
              <a:rPr sz="1500" b="1" dirty="0" err="1">
                <a:solidFill>
                  <a:srgbClr val="FFFFFF"/>
                </a:solidFill>
                <a:latin typeface="Inter"/>
              </a:rPr>
              <a:t>demo.nahui.app</a:t>
            </a:r>
            <a:r>
              <a:rPr sz="1500" b="1" dirty="0">
                <a:solidFill>
                  <a:srgbClr val="FFFFFF"/>
                </a:solidFill>
                <a:latin typeface="Inter"/>
              </a:rPr>
              <a:t>   ·   </a:t>
            </a:r>
            <a:r>
              <a:rPr sz="1500" b="1" dirty="0" err="1">
                <a:solidFill>
                  <a:srgbClr val="FFFFFF"/>
                </a:solidFill>
                <a:latin typeface="Inter"/>
              </a:rPr>
              <a:t>Repositorio</a:t>
            </a:r>
            <a:r>
              <a:rPr sz="1500" b="1" dirty="0">
                <a:solidFill>
                  <a:srgbClr val="FFFFFF"/>
                </a:solidFill>
                <a:latin typeface="Inter"/>
              </a:rPr>
              <a:t>: </a:t>
            </a:r>
            <a:r>
              <a:rPr sz="1500" b="1" dirty="0" err="1">
                <a:solidFill>
                  <a:srgbClr val="FFFFFF"/>
                </a:solidFill>
                <a:latin typeface="Inter"/>
              </a:rPr>
              <a:t>github.com</a:t>
            </a:r>
            <a:r>
              <a:rPr sz="1500" b="1" dirty="0">
                <a:solidFill>
                  <a:srgbClr val="FFFFFF"/>
                </a:solidFill>
                <a:latin typeface="Inter"/>
              </a:rPr>
              <a:t>/</a:t>
            </a:r>
            <a:r>
              <a:rPr sz="1500" b="1" dirty="0" err="1">
                <a:solidFill>
                  <a:srgbClr val="FFFFFF"/>
                </a:solidFill>
                <a:latin typeface="Inter"/>
              </a:rPr>
              <a:t>claudiafalcon</a:t>
            </a:r>
            <a:r>
              <a:rPr sz="1500" b="1" dirty="0">
                <a:solidFill>
                  <a:srgbClr val="FFFFFF"/>
                </a:solidFill>
                <a:latin typeface="Inter"/>
              </a:rPr>
              <a:t>/</a:t>
            </a:r>
            <a:r>
              <a:rPr sz="1500" b="1" dirty="0" err="1">
                <a:solidFill>
                  <a:srgbClr val="FFFFFF"/>
                </a:solidFill>
                <a:latin typeface="Inter"/>
              </a:rPr>
              <a:t>nahui</a:t>
            </a:r>
            <a:endParaRPr sz="1500" b="1" dirty="0">
              <a:solidFill>
                <a:srgbClr val="FFFFFF"/>
              </a:solidFill>
              <a:latin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Eyebrow (El Problema)"/>
          <p:cNvSpPr txBox="1"/>
          <p:nvPr/>
        </p:nvSpPr>
        <p:spPr>
          <a:xfrm>
            <a:off x="822960" y="640080"/>
            <a:ext cx="6000000" cy="320000"/>
          </a:xfrm>
          <a:prstGeom prst="rect">
            <a:avLst/>
          </a:prstGeom>
          <a:noFill/>
        </p:spPr>
        <p:txBody>
          <a:bodyPr wrap="square">
            <a:spAutoFit/>
          </a:bodyPr>
          <a:lstStyle/>
          <a:p>
            <a:pPr algn="l"/>
            <a:r>
              <a:rPr sz="1300" b="1" i="0">
                <a:solidFill>
                  <a:srgbClr val="C13F26"/>
                </a:solidFill>
                <a:latin typeface="Inter"/>
              </a:rPr>
              <a:t>EL PROBLEMA</a:t>
            </a:r>
          </a:p>
        </p:txBody>
      </p:sp>
      <p:sp>
        <p:nvSpPr>
          <p:cNvPr id="3" name="TextBox 2"/>
          <p:cNvSpPr txBox="1"/>
          <p:nvPr/>
        </p:nvSpPr>
        <p:spPr>
          <a:xfrm>
            <a:off x="822960" y="1005840"/>
            <a:ext cx="10500000" cy="2194560"/>
          </a:xfrm>
          <a:prstGeom prst="rect">
            <a:avLst/>
          </a:prstGeom>
          <a:noFill/>
        </p:spPr>
        <p:txBody>
          <a:bodyPr wrap="square" lIns="0" tIns="0" rIns="0" bIns="0" anchor="t">
            <a:spAutoFit/>
          </a:bodyPr>
          <a:lstStyle/>
          <a:p>
            <a:pPr algn="l">
              <a:lnSpc>
                <a:spcPct val="102000"/>
              </a:lnSpc>
              <a:spcBef>
                <a:spcPts val="0"/>
              </a:spcBef>
              <a:spcAft>
                <a:spcPts val="0"/>
              </a:spcAft>
            </a:pPr>
            <a:r>
              <a:rPr sz="6000" b="1" i="0">
                <a:solidFill>
                  <a:srgbClr val="FFFFFF"/>
                </a:solidFill>
                <a:latin typeface="Fredoka"/>
              </a:rPr>
              <a:t>El registro le cuesta la</a:t>
            </a:r>
          </a:p>
          <a:p>
            <a:pPr algn="l">
              <a:lnSpc>
                <a:spcPct val="102000"/>
              </a:lnSpc>
              <a:spcBef>
                <a:spcPts val="0"/>
              </a:spcBef>
              <a:spcAft>
                <a:spcPts val="0"/>
              </a:spcAft>
            </a:pPr>
            <a:r>
              <a:rPr sz="6000" b="1" i="0">
                <a:solidFill>
                  <a:srgbClr val="FFFFFF"/>
                </a:solidFill>
                <a:latin typeface="Fredoka"/>
              </a:rPr>
              <a:t>siguiente venta.</a:t>
            </a:r>
          </a:p>
        </p:txBody>
      </p:sp>
      <p:sp>
        <p:nvSpPr>
          <p:cNvPr id="4" name="TextBox 3"/>
          <p:cNvSpPr txBox="1"/>
          <p:nvPr/>
        </p:nvSpPr>
        <p:spPr>
          <a:xfrm>
            <a:off x="868680" y="3931920"/>
            <a:ext cx="9000000" cy="1280160"/>
          </a:xfrm>
          <a:prstGeom prst="rect">
            <a:avLst/>
          </a:prstGeom>
          <a:noFill/>
        </p:spPr>
        <p:txBody>
          <a:bodyPr wrap="square" lIns="0" tIns="0" rIns="0" bIns="0" anchor="t">
            <a:spAutoFit/>
          </a:bodyPr>
          <a:lstStyle/>
          <a:p>
            <a:pPr algn="l">
              <a:lnSpc>
                <a:spcPct val="125000"/>
              </a:lnSpc>
              <a:spcBef>
                <a:spcPts val="0"/>
              </a:spcBef>
              <a:spcAft>
                <a:spcPts val="0"/>
              </a:spcAft>
            </a:pPr>
            <a:r>
              <a:rPr sz="2000" b="0" i="0">
                <a:solidFill>
                  <a:srgbClr val="C7C5C0"/>
                </a:solidFill>
                <a:latin typeface="Inter"/>
              </a:rPr>
              <a:t>Flujo de clientes impredecible. Un registro de más de unos segundos compite directamente con atender a quien llega después, y siempre gana la siguiente venta.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822960"/>
            <a:ext cx="6000000" cy="320000"/>
          </a:xfrm>
          <a:prstGeom prst="rect">
            <a:avLst/>
          </a:prstGeom>
          <a:noFill/>
        </p:spPr>
        <p:txBody>
          <a:bodyPr wrap="square">
            <a:spAutoFit/>
          </a:bodyPr>
          <a:lstStyle/>
          <a:p>
            <a:pPr algn="l"/>
            <a:r>
              <a:rPr sz="1300" b="1" i="0">
                <a:solidFill>
                  <a:srgbClr val="C13F26"/>
                </a:solidFill>
                <a:latin typeface="Inter"/>
              </a:rPr>
              <a:t>LA SOLUCIÓN</a:t>
            </a:r>
          </a:p>
        </p:txBody>
      </p:sp>
      <p:sp>
        <p:nvSpPr>
          <p:cNvPr id="4" name="TextBox 3"/>
          <p:cNvSpPr txBox="1"/>
          <p:nvPr/>
        </p:nvSpPr>
        <p:spPr>
          <a:xfrm>
            <a:off x="822960" y="1188720"/>
            <a:ext cx="10546080" cy="1097280"/>
          </a:xfrm>
          <a:prstGeom prst="rect">
            <a:avLst/>
          </a:prstGeom>
          <a:noFill/>
        </p:spPr>
        <p:txBody>
          <a:bodyPr wrap="square">
            <a:spAutoFit/>
          </a:bodyPr>
          <a:lstStyle/>
          <a:p>
            <a:pPr algn="l"/>
            <a:r>
              <a:rPr sz="4400" b="1" i="0">
                <a:solidFill>
                  <a:srgbClr val="141413"/>
                </a:solidFill>
                <a:latin typeface="Fredoka"/>
              </a:rPr>
              <a:t>La vas a ver funcionar, en vivo.</a:t>
            </a:r>
          </a:p>
        </p:txBody>
      </p:sp>
      <p:sp>
        <p:nvSpPr>
          <p:cNvPr id="5" name="Rounded Rectangle 4"/>
          <p:cNvSpPr/>
          <p:nvPr/>
        </p:nvSpPr>
        <p:spPr>
          <a:xfrm>
            <a:off x="1188720" y="2834640"/>
            <a:ext cx="9814560" cy="1097280"/>
          </a:xfrm>
          <a:prstGeom prst="roundRect">
            <a:avLst>
              <a:gd name="adj" fmla="val 18000"/>
            </a:avLst>
          </a:prstGeom>
          <a:solidFill>
            <a:srgbClr val="FFFFFF"/>
          </a:solidFill>
          <a:ln w="12700">
            <a:solidFill>
              <a:srgbClr val="E0DC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462680" y="3162300"/>
            <a:ext cx="137160" cy="137160"/>
          </a:xfrm>
          <a:prstGeom prst="ellipse">
            <a:avLst/>
          </a:prstGeom>
          <a:solidFill>
            <a:srgbClr val="E0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737000" y="3162300"/>
            <a:ext cx="137160" cy="137160"/>
          </a:xfrm>
          <a:prstGeom prst="ellipse">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2011320" y="3162300"/>
            <a:ext cx="137160" cy="137160"/>
          </a:xfrm>
          <a:prstGeom prst="ellipse">
            <a:avLst/>
          </a:prstGeom>
          <a:solidFill>
            <a:srgbClr val="6F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377440" y="3017520"/>
            <a:ext cx="8351520" cy="731520"/>
          </a:xfrm>
          <a:prstGeom prst="rect">
            <a:avLst/>
          </a:prstGeom>
          <a:noFill/>
        </p:spPr>
        <p:txBody>
          <a:bodyPr wrap="square" anchor="ctr">
            <a:spAutoFit/>
          </a:bodyPr>
          <a:lstStyle/>
          <a:p>
            <a:pPr algn="l"/>
            <a:r>
              <a:rPr sz="3600" b="1" i="0">
                <a:solidFill>
                  <a:srgbClr val="C13F26"/>
                </a:solidFill>
                <a:latin typeface="Fredoka"/>
              </a:rPr>
              <a:t>demo.nahui.app</a:t>
            </a:r>
          </a:p>
        </p:txBody>
      </p:sp>
      <p:sp>
        <p:nvSpPr>
          <p:cNvPr id="10" name="TextBox 9"/>
          <p:cNvSpPr txBox="1"/>
          <p:nvPr/>
        </p:nvSpPr>
        <p:spPr>
          <a:xfrm>
            <a:off x="822960" y="4297680"/>
            <a:ext cx="10546080" cy="411480"/>
          </a:xfrm>
          <a:prstGeom prst="rect">
            <a:avLst/>
          </a:prstGeom>
          <a:noFill/>
        </p:spPr>
        <p:txBody>
          <a:bodyPr wrap="square">
            <a:spAutoFit/>
          </a:bodyPr>
          <a:lstStyle/>
          <a:p>
            <a:pPr algn="l"/>
            <a:r>
              <a:rPr sz="1800" b="0" i="0">
                <a:solidFill>
                  <a:srgbClr val="6B6B6B"/>
                </a:solidFill>
                <a:latin typeface="Inter"/>
              </a:rPr>
              <a:t>Demo en vivo — nada pregrabado.</a:t>
            </a:r>
          </a:p>
        </p:txBody>
      </p:sp>
      <p:sp>
        <p:nvSpPr>
          <p:cNvPr id="11" name="TextBox 10"/>
          <p:cNvSpPr txBox="1"/>
          <p:nvPr/>
        </p:nvSpPr>
        <p:spPr>
          <a:xfrm>
            <a:off x="822960" y="4800600"/>
            <a:ext cx="10546080" cy="640080"/>
          </a:xfrm>
          <a:prstGeom prst="rect">
            <a:avLst/>
          </a:prstGeom>
          <a:noFill/>
        </p:spPr>
        <p:txBody>
          <a:bodyPr wrap="square">
            <a:spAutoFit/>
          </a:bodyPr>
          <a:lstStyle/>
          <a:p>
            <a:pPr algn="l"/>
            <a:r>
              <a:rPr sz="1500" b="0" i="0">
                <a:solidFill>
                  <a:srgbClr val="6B6B6B"/>
                </a:solidFill>
                <a:latin typeface="Inter"/>
              </a:rPr>
              <a:t>Cada toque que van a ver ocurre en este momento, en el prototipo real, probado en persona con Ana.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vercel2-events.png"/>
          <p:cNvPicPr>
            <a:picLocks noChangeAspect="1"/>
          </p:cNvPicPr>
          <p:nvPr/>
        </p:nvPicPr>
        <p:blipFill>
          <a:blip r:embed="rId3"/>
          <a:stretch>
            <a:fillRect/>
          </a:stretch>
        </p:blipFill>
        <p:spPr>
          <a:xfrm>
            <a:off x="6434548" y="3310128"/>
            <a:ext cx="4663186" cy="1620000"/>
          </a:xfrm>
          <a:prstGeom prst="rect">
            <a:avLst/>
          </a:prstGeom>
        </p:spPr>
      </p:pic>
      <p:sp>
        <p:nvSpPr>
          <p:cNvPr id="11" name="TextBox 10"/>
          <p:cNvSpPr txBox="1"/>
          <p:nvPr/>
        </p:nvSpPr>
        <p:spPr>
          <a:xfrm>
            <a:off x="822960" y="411480"/>
            <a:ext cx="6800000" cy="320000"/>
          </a:xfrm>
          <a:prstGeom prst="rect">
            <a:avLst/>
          </a:prstGeom>
          <a:noFill/>
        </p:spPr>
        <p:txBody>
          <a:bodyPr wrap="square">
            <a:spAutoFit/>
          </a:bodyPr>
          <a:lstStyle/>
          <a:p>
            <a:pPr algn="l"/>
            <a:r>
              <a:rPr sz="1300" b="1" i="0">
                <a:solidFill>
                  <a:srgbClr val="F3D9D1"/>
                </a:solidFill>
                <a:latin typeface="Inter"/>
              </a:rPr>
              <a:t>LO QUE YA ESTÁ PASANDO</a:t>
            </a:r>
          </a:p>
        </p:txBody>
      </p:sp>
      <p:sp>
        <p:nvSpPr>
          <p:cNvPr id="12" name="TextBox 11"/>
          <p:cNvSpPr txBox="1"/>
          <p:nvPr/>
        </p:nvSpPr>
        <p:spPr>
          <a:xfrm>
            <a:off x="822960" y="731520"/>
            <a:ext cx="6583680" cy="1600200"/>
          </a:xfrm>
          <a:prstGeom prst="rect">
            <a:avLst/>
          </a:prstGeom>
          <a:noFill/>
        </p:spPr>
        <p:txBody>
          <a:bodyPr wrap="square">
            <a:spAutoFit/>
          </a:bodyPr>
          <a:lstStyle/>
          <a:p>
            <a:pPr algn="l"/>
            <a:r>
              <a:rPr sz="9600" b="1" i="0">
                <a:solidFill>
                  <a:srgbClr val="FFFFFF"/>
                </a:solidFill>
                <a:latin typeface="Fredoka"/>
              </a:rPr>
              <a:t>2 de 227</a:t>
            </a:r>
          </a:p>
        </p:txBody>
      </p:sp>
      <p:sp>
        <p:nvSpPr>
          <p:cNvPr id="13" name="TextBox 12"/>
          <p:cNvSpPr txBox="1"/>
          <p:nvPr/>
        </p:nvSpPr>
        <p:spPr>
          <a:xfrm>
            <a:off x="868680" y="2286000"/>
            <a:ext cx="6583680" cy="731520"/>
          </a:xfrm>
          <a:prstGeom prst="rect">
            <a:avLst/>
          </a:prstGeom>
          <a:noFill/>
        </p:spPr>
        <p:txBody>
          <a:bodyPr wrap="square">
            <a:spAutoFit/>
          </a:bodyPr>
          <a:lstStyle/>
          <a:p>
            <a:pPr algn="l"/>
            <a:r>
              <a:rPr sz="1500" b="0" i="0">
                <a:solidFill>
                  <a:srgbClr val="F3D9D1"/>
                </a:solidFill>
                <a:latin typeface="Inter"/>
              </a:rPr>
              <a:t>llegaron a verificación.</a:t>
            </a:r>
          </a:p>
          <a:p>
            <a:pPr algn="l"/>
            <a:r>
              <a:rPr sz="1500" b="0" i="0">
                <a:solidFill>
                  <a:srgbClr val="F3D9D1"/>
                </a:solidFill>
                <a:latin typeface="Inter"/>
              </a:rPr>
              <a:t>Cero comerciantes externos.</a:t>
            </a:r>
          </a:p>
        </p:txBody>
      </p:sp>
      <p:sp>
        <p:nvSpPr>
          <p:cNvPr id="14" name="TextBox 13"/>
          <p:cNvSpPr txBox="1"/>
          <p:nvPr/>
        </p:nvSpPr>
        <p:spPr>
          <a:xfrm>
            <a:off x="8549640" y="411480"/>
            <a:ext cx="2834640" cy="365760"/>
          </a:xfrm>
          <a:prstGeom prst="rect">
            <a:avLst/>
          </a:prstGeom>
          <a:noFill/>
        </p:spPr>
        <p:txBody>
          <a:bodyPr wrap="square">
            <a:spAutoFit/>
          </a:bodyPr>
          <a:lstStyle/>
          <a:p>
            <a:pPr algn="l"/>
            <a:r>
              <a:rPr sz="2400" b="1" i="0">
                <a:solidFill>
                  <a:srgbClr val="FFFFFF"/>
                </a:solidFill>
                <a:latin typeface="Fredoka"/>
              </a:rPr>
              <a:t>~20 mil</a:t>
            </a:r>
          </a:p>
        </p:txBody>
      </p:sp>
      <p:sp>
        <p:nvSpPr>
          <p:cNvPr id="15" name="TextBox 14"/>
          <p:cNvSpPr txBox="1"/>
          <p:nvPr/>
        </p:nvSpPr>
        <p:spPr>
          <a:xfrm>
            <a:off x="8549640" y="777240"/>
            <a:ext cx="2834640" cy="594360"/>
          </a:xfrm>
          <a:prstGeom prst="rect">
            <a:avLst/>
          </a:prstGeom>
          <a:noFill/>
        </p:spPr>
        <p:txBody>
          <a:bodyPr wrap="square">
            <a:spAutoFit/>
          </a:bodyPr>
          <a:lstStyle/>
          <a:p>
            <a:pPr algn="l"/>
            <a:r>
              <a:rPr sz="1300" b="0" i="0">
                <a:solidFill>
                  <a:srgbClr val="F3D9D1"/>
                </a:solidFill>
                <a:latin typeface="Inter"/>
              </a:rPr>
              <a:t>personas de alcance</a:t>
            </a:r>
          </a:p>
        </p:txBody>
      </p:sp>
      <p:sp>
        <p:nvSpPr>
          <p:cNvPr id="16" name="TextBox 15"/>
          <p:cNvSpPr txBox="1"/>
          <p:nvPr/>
        </p:nvSpPr>
        <p:spPr>
          <a:xfrm>
            <a:off x="8549640" y="1417320"/>
            <a:ext cx="2834640" cy="365760"/>
          </a:xfrm>
          <a:prstGeom prst="rect">
            <a:avLst/>
          </a:prstGeom>
          <a:noFill/>
        </p:spPr>
        <p:txBody>
          <a:bodyPr wrap="square">
            <a:spAutoFit/>
          </a:bodyPr>
          <a:lstStyle/>
          <a:p>
            <a:pPr algn="l"/>
            <a:r>
              <a:rPr sz="2400" b="1" i="0">
                <a:solidFill>
                  <a:srgbClr val="FFFFFF"/>
                </a:solidFill>
                <a:latin typeface="Fredoka"/>
              </a:rPr>
              <a:t>227</a:t>
            </a:r>
          </a:p>
        </p:txBody>
      </p:sp>
      <p:sp>
        <p:nvSpPr>
          <p:cNvPr id="17" name="TextBox 16"/>
          <p:cNvSpPr txBox="1"/>
          <p:nvPr/>
        </p:nvSpPr>
        <p:spPr>
          <a:xfrm>
            <a:off x="8549640" y="1783080"/>
            <a:ext cx="2834640" cy="594360"/>
          </a:xfrm>
          <a:prstGeom prst="rect">
            <a:avLst/>
          </a:prstGeom>
          <a:noFill/>
        </p:spPr>
        <p:txBody>
          <a:bodyPr wrap="square">
            <a:spAutoFit/>
          </a:bodyPr>
          <a:lstStyle/>
          <a:p>
            <a:pPr algn="l"/>
            <a:r>
              <a:rPr sz="1300" b="0" i="0">
                <a:solidFill>
                  <a:srgbClr val="F3D9D1"/>
                </a:solidFill>
                <a:latin typeface="Inter"/>
              </a:rPr>
              <a:t>visitantes confirmados (embudo medido desde el 19 ago)</a:t>
            </a:r>
          </a:p>
        </p:txBody>
      </p:sp>
      <p:sp>
        <p:nvSpPr>
          <p:cNvPr id="18" name="TextBox 17"/>
          <p:cNvSpPr txBox="1"/>
          <p:nvPr/>
        </p:nvSpPr>
        <p:spPr>
          <a:xfrm>
            <a:off x="8549640" y="2423160"/>
            <a:ext cx="2834640" cy="365760"/>
          </a:xfrm>
          <a:prstGeom prst="rect">
            <a:avLst/>
          </a:prstGeom>
          <a:noFill/>
        </p:spPr>
        <p:txBody>
          <a:bodyPr wrap="square">
            <a:spAutoFit/>
          </a:bodyPr>
          <a:lstStyle/>
          <a:p>
            <a:pPr algn="l"/>
            <a:r>
              <a:rPr sz="2400" b="1" i="0">
                <a:solidFill>
                  <a:srgbClr val="FFFFFF"/>
                </a:solidFill>
                <a:latin typeface="Fredoka"/>
              </a:rPr>
              <a:t>$569 · 731</a:t>
            </a:r>
          </a:p>
        </p:txBody>
      </p:sp>
      <p:sp>
        <p:nvSpPr>
          <p:cNvPr id="19" name="TextBox 18"/>
          <p:cNvSpPr txBox="1"/>
          <p:nvPr/>
        </p:nvSpPr>
        <p:spPr>
          <a:xfrm>
            <a:off x="8549640" y="2788920"/>
            <a:ext cx="2834640" cy="594360"/>
          </a:xfrm>
          <a:prstGeom prst="rect">
            <a:avLst/>
          </a:prstGeom>
          <a:noFill/>
        </p:spPr>
        <p:txBody>
          <a:bodyPr wrap="square">
            <a:spAutoFit/>
          </a:bodyPr>
          <a:lstStyle/>
          <a:p>
            <a:pPr algn="l"/>
            <a:r>
              <a:rPr sz="1300" b="0" i="0">
                <a:solidFill>
                  <a:srgbClr val="F3D9D1"/>
                </a:solidFill>
                <a:latin typeface="Inter"/>
              </a:rPr>
              <a:t>gastado · resultados de la campaña Meta</a:t>
            </a:r>
          </a:p>
        </p:txBody>
      </p:sp>
      <p:sp>
        <p:nvSpPr>
          <p:cNvPr id="20" name="TextBox 19"/>
          <p:cNvSpPr txBox="1"/>
          <p:nvPr/>
        </p:nvSpPr>
        <p:spPr>
          <a:xfrm>
            <a:off x="868680" y="5138928"/>
            <a:ext cx="10454640" cy="502920"/>
          </a:xfrm>
          <a:prstGeom prst="rect">
            <a:avLst/>
          </a:prstGeom>
          <a:noFill/>
        </p:spPr>
        <p:txBody>
          <a:bodyPr wrap="square">
            <a:spAutoFit/>
          </a:bodyPr>
          <a:lstStyle/>
          <a:p>
            <a:pPr algn="l"/>
            <a:r>
              <a:rPr sz="2000" b="1" i="0">
                <a:solidFill>
                  <a:srgbClr val="FFFFFF"/>
                </a:solidFill>
                <a:latin typeface="Fredoka"/>
              </a:rPr>
              <a:t>El alcance funciona, y es barato.</a:t>
            </a:r>
          </a:p>
        </p:txBody>
      </p:sp>
      <p:sp>
        <p:nvSpPr>
          <p:cNvPr id="21" name="TextBox 20"/>
          <p:cNvSpPr txBox="1"/>
          <p:nvPr/>
        </p:nvSpPr>
        <p:spPr>
          <a:xfrm>
            <a:off x="868680" y="5641848"/>
            <a:ext cx="10454640" cy="731520"/>
          </a:xfrm>
          <a:prstGeom prst="rect">
            <a:avLst/>
          </a:prstGeom>
          <a:noFill/>
        </p:spPr>
        <p:txBody>
          <a:bodyPr wrap="square">
            <a:spAutoFit/>
          </a:bodyPr>
          <a:lstStyle/>
          <a:p>
            <a:pPr algn="l"/>
            <a:r>
              <a:rPr sz="1400" b="0" i="0">
                <a:solidFill>
                  <a:srgbClr val="FAEEEA"/>
                </a:solidFill>
                <a:latin typeface="Inter"/>
              </a:rPr>
              <a:t>Cero comerciantes externos completaron el recorrido. La causa exacta todavía no está confirmada — piloto de conversación directa en marcha para averiguarlo.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640080"/>
            <a:ext cx="8000000" cy="320000"/>
          </a:xfrm>
          <a:prstGeom prst="rect">
            <a:avLst/>
          </a:prstGeom>
          <a:noFill/>
        </p:spPr>
        <p:txBody>
          <a:bodyPr wrap="square">
            <a:spAutoFit/>
          </a:bodyPr>
          <a:lstStyle/>
          <a:p>
            <a:pPr algn="l"/>
            <a:r>
              <a:rPr sz="1300" b="1" i="0">
                <a:solidFill>
                  <a:srgbClr val="C13F26"/>
                </a:solidFill>
                <a:latin typeface="Inter"/>
              </a:rPr>
              <a:t>EL CAMINO RECORRIDO</a:t>
            </a:r>
          </a:p>
        </p:txBody>
      </p:sp>
      <p:sp>
        <p:nvSpPr>
          <p:cNvPr id="4" name="TextBox 3"/>
          <p:cNvSpPr txBox="1"/>
          <p:nvPr/>
        </p:nvSpPr>
        <p:spPr>
          <a:xfrm>
            <a:off x="822960" y="1005840"/>
            <a:ext cx="10546080" cy="914400"/>
          </a:xfrm>
          <a:prstGeom prst="rect">
            <a:avLst/>
          </a:prstGeom>
          <a:noFill/>
        </p:spPr>
        <p:txBody>
          <a:bodyPr wrap="square">
            <a:spAutoFit/>
          </a:bodyPr>
          <a:lstStyle/>
          <a:p>
            <a:pPr algn="l">
              <a:lnSpc>
                <a:spcPct val="105000"/>
              </a:lnSpc>
            </a:pPr>
            <a:r>
              <a:rPr sz="3400" b="1" i="0">
                <a:solidFill>
                  <a:srgbClr val="141413"/>
                </a:solidFill>
                <a:latin typeface="Fredoka"/>
              </a:rPr>
              <a:t>El reto más grande no fue técnico,</a:t>
            </a:r>
          </a:p>
          <a:p>
            <a:pPr algn="l">
              <a:lnSpc>
                <a:spcPct val="105000"/>
              </a:lnSpc>
            </a:pPr>
            <a:r>
              <a:rPr sz="3400" b="1" i="0">
                <a:solidFill>
                  <a:srgbClr val="141413"/>
                </a:solidFill>
                <a:latin typeface="Fredoka"/>
              </a:rPr>
              <a:t>fue conseguir que alguien real cruzara la puerta.</a:t>
            </a:r>
          </a:p>
        </p:txBody>
      </p:sp>
      <p:sp>
        <p:nvSpPr>
          <p:cNvPr id="11" name="TextBox 10"/>
          <p:cNvSpPr txBox="1"/>
          <p:nvPr/>
        </p:nvSpPr>
        <p:spPr>
          <a:xfrm>
            <a:off x="822960" y="5440680"/>
            <a:ext cx="10546080" cy="640080"/>
          </a:xfrm>
          <a:prstGeom prst="rect">
            <a:avLst/>
          </a:prstGeom>
          <a:noFill/>
        </p:spPr>
        <p:txBody>
          <a:bodyPr wrap="square">
            <a:spAutoFit/>
          </a:bodyPr>
          <a:lstStyle/>
          <a:p>
            <a:pPr algn="l"/>
            <a:r>
              <a:rPr sz="1400" b="0" i="1">
                <a:solidFill>
                  <a:srgbClr val="6B6B6B"/>
                </a:solidFill>
                <a:latin typeface="Inter"/>
              </a:rPr>
              <a:t>Cada agente tiene autoridad propia y sus límites — pero ni la mejor disciplina técnica resuelve la adopción sola.</a:t>
            </a:r>
          </a:p>
        </p:txBody>
      </p:sp>
      <p:pic>
        <p:nvPicPr>
          <p:cNvPr id="12" name="Diagrama Equipo de Agentes" descr="equipo-diagram-crop.png"/>
          <p:cNvPicPr>
            <a:picLocks noChangeAspect="1"/>
          </p:cNvPicPr>
          <p:nvPr/>
        </p:nvPicPr>
        <p:blipFill>
          <a:blip r:embed="rId3"/>
          <a:stretch>
            <a:fillRect/>
          </a:stretch>
        </p:blipFill>
        <p:spPr>
          <a:xfrm>
            <a:off x="1342295" y="2150000"/>
            <a:ext cx="9507410" cy="30106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48640"/>
            <a:ext cx="8000000" cy="320000"/>
          </a:xfrm>
          <a:prstGeom prst="rect">
            <a:avLst/>
          </a:prstGeom>
          <a:noFill/>
        </p:spPr>
        <p:txBody>
          <a:bodyPr wrap="square">
            <a:spAutoFit/>
          </a:bodyPr>
          <a:lstStyle/>
          <a:p>
            <a:pPr algn="l"/>
            <a:r>
              <a:rPr sz="1300" b="1" i="0">
                <a:solidFill>
                  <a:srgbClr val="F3D9D1"/>
                </a:solidFill>
                <a:latin typeface="Inter"/>
              </a:rPr>
              <a:t>LO QUE SIGUE</a:t>
            </a:r>
          </a:p>
        </p:txBody>
      </p:sp>
      <p:sp>
        <p:nvSpPr>
          <p:cNvPr id="4" name="TextBox 3"/>
          <p:cNvSpPr txBox="1"/>
          <p:nvPr/>
        </p:nvSpPr>
        <p:spPr>
          <a:xfrm>
            <a:off x="822960" y="868680"/>
            <a:ext cx="10546080" cy="545919"/>
          </a:xfrm>
          <a:prstGeom prst="rect">
            <a:avLst/>
          </a:prstGeom>
          <a:noFill/>
        </p:spPr>
        <p:txBody>
          <a:bodyPr wrap="square">
            <a:spAutoFit/>
          </a:bodyPr>
          <a:lstStyle/>
          <a:p>
            <a:pPr algn="l">
              <a:lnSpc>
                <a:spcPct val="105000"/>
              </a:lnSpc>
            </a:pPr>
            <a:r>
              <a:rPr sz="3000" b="1" i="0" dirty="0">
                <a:solidFill>
                  <a:srgbClr val="FFFFFF"/>
                </a:solidFill>
                <a:latin typeface="Fredoka"/>
              </a:rPr>
              <a:t>Nada de </a:t>
            </a:r>
            <a:r>
              <a:rPr sz="3000" b="1" i="0" dirty="0" err="1">
                <a:solidFill>
                  <a:srgbClr val="FFFFFF"/>
                </a:solidFill>
                <a:latin typeface="Fredoka"/>
              </a:rPr>
              <a:t>esto</a:t>
            </a:r>
            <a:r>
              <a:rPr sz="3000" b="1" i="0" dirty="0">
                <a:solidFill>
                  <a:srgbClr val="FFFFFF"/>
                </a:solidFill>
                <a:latin typeface="Fredoka"/>
              </a:rPr>
              <a:t> </a:t>
            </a:r>
            <a:r>
              <a:rPr sz="3000" b="1" i="0" dirty="0" err="1">
                <a:solidFill>
                  <a:srgbClr val="FFFFFF"/>
                </a:solidFill>
                <a:latin typeface="Fredoka"/>
              </a:rPr>
              <a:t>está</a:t>
            </a:r>
            <a:r>
              <a:rPr sz="3000" b="1" i="0" dirty="0">
                <a:solidFill>
                  <a:srgbClr val="FFFFFF"/>
                </a:solidFill>
                <a:latin typeface="Fredoka"/>
              </a:rPr>
              <a:t> </a:t>
            </a:r>
            <a:r>
              <a:rPr sz="3000" b="1" i="0" dirty="0" err="1">
                <a:solidFill>
                  <a:srgbClr val="FFFFFF"/>
                </a:solidFill>
                <a:latin typeface="Fredoka"/>
              </a:rPr>
              <a:t>resuelto</a:t>
            </a:r>
            <a:r>
              <a:rPr sz="3000" b="1" i="0" dirty="0">
                <a:solidFill>
                  <a:srgbClr val="FFFFFF"/>
                </a:solidFill>
                <a:latin typeface="Fredoka"/>
              </a:rPr>
              <a:t> del </a:t>
            </a:r>
            <a:r>
              <a:rPr sz="3000" b="1" i="0" dirty="0" err="1">
                <a:solidFill>
                  <a:srgbClr val="FFFFFF"/>
                </a:solidFill>
                <a:latin typeface="Fredoka"/>
              </a:rPr>
              <a:t>todo</a:t>
            </a:r>
            <a:r>
              <a:rPr sz="3000" b="1" i="0" dirty="0">
                <a:solidFill>
                  <a:srgbClr val="FFFFFF"/>
                </a:solidFill>
                <a:latin typeface="Fredoka"/>
              </a:rPr>
              <a:t>.</a:t>
            </a:r>
          </a:p>
        </p:txBody>
      </p:sp>
      <p:sp>
        <p:nvSpPr>
          <p:cNvPr id="5" name="TextBox 4"/>
          <p:cNvSpPr txBox="1"/>
          <p:nvPr/>
        </p:nvSpPr>
        <p:spPr>
          <a:xfrm>
            <a:off x="822960" y="2377440"/>
            <a:ext cx="457200" cy="457200"/>
          </a:xfrm>
          <a:prstGeom prst="rect">
            <a:avLst/>
          </a:prstGeom>
          <a:noFill/>
        </p:spPr>
        <p:txBody>
          <a:bodyPr wrap="square">
            <a:spAutoFit/>
          </a:bodyPr>
          <a:lstStyle/>
          <a:p>
            <a:pPr algn="l"/>
            <a:r>
              <a:rPr sz="2200" b="1" i="0">
                <a:solidFill>
                  <a:srgbClr val="F3D9D1"/>
                </a:solidFill>
                <a:latin typeface="Fredoka"/>
              </a:rPr>
              <a:t>1</a:t>
            </a:r>
          </a:p>
        </p:txBody>
      </p:sp>
      <p:sp>
        <p:nvSpPr>
          <p:cNvPr id="6" name="TextBox 5"/>
          <p:cNvSpPr txBox="1"/>
          <p:nvPr/>
        </p:nvSpPr>
        <p:spPr>
          <a:xfrm>
            <a:off x="1371600" y="2377440"/>
            <a:ext cx="9800000" cy="320000"/>
          </a:xfrm>
          <a:prstGeom prst="rect">
            <a:avLst/>
          </a:prstGeom>
          <a:noFill/>
        </p:spPr>
        <p:txBody>
          <a:bodyPr wrap="square">
            <a:spAutoFit/>
          </a:bodyPr>
          <a:lstStyle/>
          <a:p>
            <a:pPr algn="l"/>
            <a:r>
              <a:rPr sz="1700" b="1" i="0">
                <a:solidFill>
                  <a:srgbClr val="FFFFFF"/>
                </a:solidFill>
                <a:latin typeface="Fredoka"/>
              </a:rPr>
              <a:t>Piloto de conversación directa</a:t>
            </a:r>
          </a:p>
        </p:txBody>
      </p:sp>
      <p:sp>
        <p:nvSpPr>
          <p:cNvPr id="7" name="TextBox 6"/>
          <p:cNvSpPr txBox="1"/>
          <p:nvPr/>
        </p:nvSpPr>
        <p:spPr>
          <a:xfrm>
            <a:off x="1371600" y="2697480"/>
            <a:ext cx="9800000" cy="320000"/>
          </a:xfrm>
          <a:prstGeom prst="rect">
            <a:avLst/>
          </a:prstGeom>
          <a:noFill/>
        </p:spPr>
        <p:txBody>
          <a:bodyPr wrap="square">
            <a:spAutoFit/>
          </a:bodyPr>
          <a:lstStyle/>
          <a:p>
            <a:pPr algn="l"/>
            <a:r>
              <a:rPr sz="1300" b="0" i="0">
                <a:solidFill>
                  <a:srgbClr val="F3D9D1"/>
                </a:solidFill>
                <a:latin typeface="Inter"/>
              </a:rPr>
              <a:t>Para entender de verdad por qué la gente no completa el registro.</a:t>
            </a:r>
          </a:p>
        </p:txBody>
      </p:sp>
      <p:sp>
        <p:nvSpPr>
          <p:cNvPr id="8" name="TextBox 7"/>
          <p:cNvSpPr txBox="1"/>
          <p:nvPr/>
        </p:nvSpPr>
        <p:spPr>
          <a:xfrm>
            <a:off x="822960" y="3108960"/>
            <a:ext cx="457200" cy="457200"/>
          </a:xfrm>
          <a:prstGeom prst="rect">
            <a:avLst/>
          </a:prstGeom>
          <a:noFill/>
        </p:spPr>
        <p:txBody>
          <a:bodyPr wrap="square">
            <a:spAutoFit/>
          </a:bodyPr>
          <a:lstStyle/>
          <a:p>
            <a:pPr algn="l"/>
            <a:r>
              <a:rPr sz="2200" b="1" i="0">
                <a:solidFill>
                  <a:srgbClr val="F3D9D1"/>
                </a:solidFill>
                <a:latin typeface="Fredoka"/>
              </a:rPr>
              <a:t>2</a:t>
            </a:r>
          </a:p>
        </p:txBody>
      </p:sp>
      <p:sp>
        <p:nvSpPr>
          <p:cNvPr id="9" name="TextBox 8"/>
          <p:cNvSpPr txBox="1"/>
          <p:nvPr/>
        </p:nvSpPr>
        <p:spPr>
          <a:xfrm>
            <a:off x="1371600" y="3108960"/>
            <a:ext cx="9800000" cy="320000"/>
          </a:xfrm>
          <a:prstGeom prst="rect">
            <a:avLst/>
          </a:prstGeom>
          <a:noFill/>
        </p:spPr>
        <p:txBody>
          <a:bodyPr wrap="square">
            <a:spAutoFit/>
          </a:bodyPr>
          <a:lstStyle/>
          <a:p>
            <a:pPr algn="l"/>
            <a:r>
              <a:rPr sz="1700" b="1" i="0">
                <a:solidFill>
                  <a:srgbClr val="FFFFFF"/>
                </a:solidFill>
                <a:latin typeface="Fredoka"/>
              </a:rPr>
              <a:t>Secuencia de entrada rediseñada</a:t>
            </a:r>
          </a:p>
        </p:txBody>
      </p:sp>
      <p:sp>
        <p:nvSpPr>
          <p:cNvPr id="10" name="TextBox 9"/>
          <p:cNvSpPr txBox="1"/>
          <p:nvPr/>
        </p:nvSpPr>
        <p:spPr>
          <a:xfrm>
            <a:off x="1371600" y="3429000"/>
            <a:ext cx="9800000" cy="320000"/>
          </a:xfrm>
          <a:prstGeom prst="rect">
            <a:avLst/>
          </a:prstGeom>
          <a:noFill/>
        </p:spPr>
        <p:txBody>
          <a:bodyPr wrap="square">
            <a:spAutoFit/>
          </a:bodyPr>
          <a:lstStyle/>
          <a:p>
            <a:pPr algn="l"/>
            <a:r>
              <a:rPr sz="1300" b="0" i="0">
                <a:solidFill>
                  <a:srgbClr val="F3D9D1"/>
                </a:solidFill>
                <a:latin typeface="Inter"/>
              </a:rPr>
              <a:t>Un comercio calificado llega a su primera venta antes de configurar nada.</a:t>
            </a:r>
          </a:p>
        </p:txBody>
      </p:sp>
      <p:sp>
        <p:nvSpPr>
          <p:cNvPr id="11" name="TextBox 10"/>
          <p:cNvSpPr txBox="1"/>
          <p:nvPr/>
        </p:nvSpPr>
        <p:spPr>
          <a:xfrm>
            <a:off x="822960" y="3840480"/>
            <a:ext cx="457200" cy="457200"/>
          </a:xfrm>
          <a:prstGeom prst="rect">
            <a:avLst/>
          </a:prstGeom>
          <a:noFill/>
        </p:spPr>
        <p:txBody>
          <a:bodyPr wrap="square">
            <a:spAutoFit/>
          </a:bodyPr>
          <a:lstStyle/>
          <a:p>
            <a:pPr algn="l"/>
            <a:r>
              <a:rPr sz="2200" b="1" i="0">
                <a:solidFill>
                  <a:srgbClr val="F3D9D1"/>
                </a:solidFill>
                <a:latin typeface="Fredoka"/>
              </a:rPr>
              <a:t>3</a:t>
            </a:r>
          </a:p>
        </p:txBody>
      </p:sp>
      <p:sp>
        <p:nvSpPr>
          <p:cNvPr id="12" name="TextBox 11"/>
          <p:cNvSpPr txBox="1"/>
          <p:nvPr/>
        </p:nvSpPr>
        <p:spPr>
          <a:xfrm>
            <a:off x="1371600" y="3840480"/>
            <a:ext cx="9800000" cy="320000"/>
          </a:xfrm>
          <a:prstGeom prst="rect">
            <a:avLst/>
          </a:prstGeom>
          <a:noFill/>
        </p:spPr>
        <p:txBody>
          <a:bodyPr wrap="square">
            <a:spAutoFit/>
          </a:bodyPr>
          <a:lstStyle/>
          <a:p>
            <a:pPr algn="l"/>
            <a:r>
              <a:rPr sz="1700" b="1" i="0">
                <a:solidFill>
                  <a:srgbClr val="FFFFFF"/>
                </a:solidFill>
                <a:latin typeface="Fredoka"/>
              </a:rPr>
              <a:t>Precio, todavía abierto</a:t>
            </a:r>
          </a:p>
        </p:txBody>
      </p:sp>
      <p:sp>
        <p:nvSpPr>
          <p:cNvPr id="13" name="TextBox 12"/>
          <p:cNvSpPr txBox="1"/>
          <p:nvPr/>
        </p:nvSpPr>
        <p:spPr>
          <a:xfrm>
            <a:off x="1371600" y="4160520"/>
            <a:ext cx="9800000" cy="320000"/>
          </a:xfrm>
          <a:prstGeom prst="rect">
            <a:avLst/>
          </a:prstGeom>
          <a:noFill/>
        </p:spPr>
        <p:txBody>
          <a:bodyPr wrap="square">
            <a:spAutoFit/>
          </a:bodyPr>
          <a:lstStyle/>
          <a:p>
            <a:pPr algn="l"/>
            <a:r>
              <a:rPr sz="1300" b="0" i="0">
                <a:solidFill>
                  <a:srgbClr val="F3D9D1"/>
                </a:solidFill>
                <a:latin typeface="Inter"/>
              </a:rPr>
              <a:t>Sin comisión por transacción. El resto sigue en discusión.</a:t>
            </a:r>
          </a:p>
        </p:txBody>
      </p:sp>
      <p:sp>
        <p:nvSpPr>
          <p:cNvPr id="15" name="TextBox 14"/>
          <p:cNvSpPr txBox="1"/>
          <p:nvPr/>
        </p:nvSpPr>
        <p:spPr>
          <a:xfrm>
            <a:off x="822960" y="5166360"/>
            <a:ext cx="10546080" cy="323165"/>
          </a:xfrm>
          <a:prstGeom prst="rect">
            <a:avLst/>
          </a:prstGeom>
          <a:noFill/>
        </p:spPr>
        <p:txBody>
          <a:bodyPr wrap="square">
            <a:spAutoFit/>
          </a:bodyPr>
          <a:lstStyle/>
          <a:p>
            <a:pPr algn="l"/>
            <a:r>
              <a:rPr sz="1500" b="1" dirty="0" err="1">
                <a:solidFill>
                  <a:srgbClr val="FFFFFF"/>
                </a:solidFill>
                <a:latin typeface="Inter"/>
              </a:rPr>
              <a:t>demo.nahui.app</a:t>
            </a:r>
            <a:r>
              <a:rPr sz="1500" b="1" dirty="0">
                <a:solidFill>
                  <a:srgbClr val="FFFFFF"/>
                </a:solidFill>
                <a:latin typeface="Inter"/>
              </a:rPr>
              <a:t>   ·   </a:t>
            </a:r>
            <a:r>
              <a:rPr sz="1500" b="1" dirty="0" err="1">
                <a:solidFill>
                  <a:srgbClr val="FFFFFF"/>
                </a:solidFill>
                <a:latin typeface="Inter"/>
              </a:rPr>
              <a:t>github.com</a:t>
            </a:r>
            <a:r>
              <a:rPr sz="1500" b="1" dirty="0">
                <a:solidFill>
                  <a:srgbClr val="FFFFFF"/>
                </a:solidFill>
                <a:latin typeface="Inter"/>
              </a:rPr>
              <a:t>/</a:t>
            </a:r>
            <a:r>
              <a:rPr sz="1500" b="1" dirty="0" err="1">
                <a:solidFill>
                  <a:srgbClr val="FFFFFF"/>
                </a:solidFill>
                <a:latin typeface="Inter"/>
              </a:rPr>
              <a:t>claudiafalcon</a:t>
            </a:r>
            <a:r>
              <a:rPr sz="1500" b="1" dirty="0">
                <a:solidFill>
                  <a:srgbClr val="FFFFFF"/>
                </a:solidFill>
                <a:latin typeface="Inter"/>
              </a:rPr>
              <a:t>/</a:t>
            </a:r>
            <a:r>
              <a:rPr sz="1500" b="1" dirty="0" err="1">
                <a:solidFill>
                  <a:srgbClr val="FFFFFF"/>
                </a:solidFill>
                <a:latin typeface="Inter"/>
              </a:rPr>
              <a:t>nhui</a:t>
            </a:r>
            <a:endParaRPr sz="1500" b="1" dirty="0">
              <a:solidFill>
                <a:srgbClr val="FFFFFF"/>
              </a:solidFill>
              <a:latin typeface="Inte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1315</Words>
  <Application>Microsoft Macintosh PowerPoint</Application>
  <PresentationFormat>Widescreen</PresentationFormat>
  <Paragraphs>71</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Fredoka</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Claudia Ivette Falcón Mata</cp:lastModifiedBy>
  <cp:revision>3</cp:revision>
  <dcterms:created xsi:type="dcterms:W3CDTF">2013-01-27T09:14:16Z</dcterms:created>
  <dcterms:modified xsi:type="dcterms:W3CDTF">2026-08-27T22:09:54Z</dcterms:modified>
  <cp:category/>
</cp:coreProperties>
</file>