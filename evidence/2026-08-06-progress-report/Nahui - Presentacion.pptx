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5448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C13F26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2D2D2D"/>
                </a:solidFill>
                <a:latin typeface="Fredoka"/>
              </a:rPr>
              <a:t>Cómo construí Nahui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1">
                <a:solidFill>
                  <a:srgbClr val="A72C2C"/>
                </a:solidFill>
                <a:latin typeface="Fredoka"/>
              </a:rPr>
              <a:t>"The path to what's next."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48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7A7370"/>
                </a:solidFill>
                <a:latin typeface="Inter"/>
              </a:rPr>
              <a:t>6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EL PUNTO DE PARTIDA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7772400" cy="2377440"/>
          </a:xfrm>
          <a:prstGeom prst="roundRect">
            <a:avLst>
              <a:gd name="adj" fmla="val 8000"/>
            </a:avLst>
          </a:prstGeom>
          <a:solidFill>
            <a:srgbClr val="F2887C"/>
          </a:solidFill>
          <a:ln w="15875">
            <a:solidFill>
              <a:srgbClr val="F28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2400">
                <a:solidFill>
                  <a:srgbClr val="2D2D2D"/>
                </a:solidFill>
                <a:latin typeface="Fredoka"/>
              </a:rPr>
              <a:t>"En cuanto se le acerca una clienta, su atención regresa a ella al instante, sin importar qué estaba haciendo."</a:t>
            </a:r>
          </a:p>
          <a:p>
            <a:r>
              <a:rPr sz="1300" b="1">
                <a:solidFill>
                  <a:srgbClr val="A72C2C"/>
                </a:solidFill>
                <a:latin typeface="Inter"/>
              </a:rPr>
              <a:t>Ana · vendedora de ropa en bazares privados, Estado de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7A7370"/>
                </a:solidFill>
                <a:latin typeface="Inter"/>
              </a:rPr>
              <a:t>Esa pregunta nunca cambió. Lo que cambió fue todo lo demás.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EL PRINCIPIO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2D2D2D"/>
                </a:solidFill>
                <a:latin typeface="Fredoka"/>
              </a:rPr>
              <a:t>Una sola pregunta, un prototipo sencillo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7A7370"/>
                </a:solidFill>
                <a:latin typeface="Inter"/>
              </a:rPr>
              <a:t>¿Se puede registrar una venta lo suficientemente rápido? Empecé como cualquier proyecto empieza, sin arquitectura, sin proceso. Solo probando la idea.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ESTO ES NAHUI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2D2D2D"/>
                </a:solidFill>
                <a:latin typeface="Fredoka"/>
              </a:rPr>
              <a:t>Así se ve,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7A7370"/>
                </a:solidFill>
                <a:latin typeface="Inter"/>
              </a:rPr>
              <a:t>Ana abre su día, ve su total, y registra una venta con un solo toque: botón o tag NFC.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240868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LA BASE QUE NO SE PODÍA MOVER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2D2D2D"/>
                </a:solidFill>
                <a:latin typeface="Fredoka"/>
              </a:rPr>
              <a:t>Cada decisión, escrita, con su razón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7A7370"/>
                </a:solidFill>
                <a:latin typeface="Inter"/>
              </a:rPr>
              <a:t>En cuanto el modelo del negocio se volvió real, las decisiones dejaron de ser obvias. Necesitaba un lugar donde ninguna se perdiera.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C13F26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5200" b="1">
                <a:solidFill>
                  <a:srgbClr val="FFFFFF"/>
                </a:solidFill>
                <a:latin typeface="Fredoka"/>
              </a:rPr>
              <a:t>30</a:t>
            </a:r>
          </a:p>
          <a:p>
            <a:r>
              <a:rPr sz="1300">
                <a:solidFill>
                  <a:srgbClr val="FFFFFF"/>
                </a:solidFill>
                <a:latin typeface="Inter"/>
              </a:rPr>
              <a:t>decisiones documentadas, ninguna borrada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POR QUÉ HICIERON FALTA AGENTES ESPECIALIZADOS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D2D2D"/>
                </a:solidFill>
                <a:latin typeface="Fredoka"/>
              </a:rPr>
              <a:t>Diseñar, revisar y validar son juicios distintos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9601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7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700">
                <a:solidFill>
                  <a:srgbClr val="2D2D2D"/>
                </a:solidFill>
                <a:latin typeface="Inter"/>
              </a:rPr>
              <a:t>Un límite se cruzó una vez, y así nació la regla: cada decisión vive con quien sabe tomarla. Un descuido en cualquiera de esos pasos es justo el tipo de detalle que Ana notaría primero.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POR QUÉ HIZO FALTA GOBERNANZA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2D2D2D"/>
                </a:solidFill>
                <a:latin typeface="Fredoka"/>
              </a:rPr>
              <a:t>El proyecto necesitaba memoria propia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686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A72C2C"/>
                </a:solidFill>
                <a:latin typeface="Fredoka"/>
              </a:rPr>
              <a:t>Un reinicio borró trabajo ya terminado una vez. Ningún hallazgo que protege a Ana debía volver a perderse así.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POR QUÉ NACIÓ LA VALIDACIÓN DE EXPERIENCIA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400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2D2D2D"/>
                </a:solidFill>
                <a:latin typeface="Fredoka"/>
              </a:rPr>
              <a:t>Revisar el diseño no es lo mismo que vivirlo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035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7A7370"/>
                </a:solidFill>
                <a:latin typeface="Inter"/>
              </a:rPr>
              <a:t>La pantalla de pago le mostraba a Ana su total del día a quien estuviera viendo el celular. Técnicamente estaba bien construida, y aun así era un problema real.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236642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EL SIGUIENTE RETO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D2D2D"/>
                </a:solidFill>
                <a:latin typeface="Fredoka"/>
              </a:rPr>
              <a:t>De leer documentos a tocar el prototipo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7A7370"/>
                </a:solidFill>
                <a:latin typeface="Fredoka"/>
              </a:rPr>
              <a:t>Leer la especificación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8803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C13F26"/>
                </a:solidFill>
                <a:latin typeface="Inte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8346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C13F26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Fredoka"/>
              </a:rPr>
              <a:t>Tocar la pantalla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7A7370"/>
                </a:solidFill>
                <a:latin typeface="Inter"/>
              </a:rPr>
              <a:t>Para vivir la experiencia de verdad, un agente de inteligencia artificial tenía que poder tocar el prototipo tal como lo haría Ana.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ASÍ SE DESARROLLA NAHUI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2D2D2D"/>
                </a:solidFill>
                <a:latin typeface="Fredoka"/>
              </a:rPr>
              <a:t>Responsabilidades claras, en cada paso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D2D2D"/>
                </a:solidFill>
                <a:latin typeface="Fredoka"/>
              </a:rPr>
              <a:t>Product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4028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7A7370"/>
                </a:solidFill>
                <a:latin typeface="Inter"/>
              </a:rPr>
              <a:t>toma las decisiones de negocio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D2D2D"/>
                </a:solidFill>
                <a:latin typeface="Fredoka"/>
              </a:rPr>
              <a:t>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7A7370"/>
                </a:solidFill>
                <a:latin typeface="Inter"/>
              </a:rPr>
              <a:t>coordina el trabajo y mantiene la memoria del proyecto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D2D2D"/>
                </a:solidFill>
                <a:latin typeface="Fredoka"/>
              </a:rPr>
              <a:t>Agentes especializados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1188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7A7370"/>
                </a:solidFill>
                <a:latin typeface="Inter"/>
              </a:rPr>
              <a:t>cada uno diseña, revisa o valida su propia parte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D2D2D"/>
                </a:solidFill>
                <a:latin typeface="Fredoka"/>
              </a:rPr>
              <a:t>Herramientas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9768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7A7370"/>
                </a:solidFill>
                <a:latin typeface="Inter"/>
              </a:rPr>
              <a:t>dejan que un agente toque el prototipo real, no solo lo lea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348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D2D2D"/>
                </a:solidFill>
                <a:latin typeface="Fredoka"/>
              </a:rPr>
              <a:t>Validación de Experiencia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8348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7A7370"/>
                </a:solidFill>
                <a:latin typeface="Inter"/>
              </a:rPr>
              <a:t>prueba la experiencia como la viviría 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66928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C13F26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Fredoka"/>
              </a:rPr>
              <a:t>Alta Fidelidad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66928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7A7370"/>
                </a:solidFill>
                <a:latin typeface="Inter"/>
              </a:rPr>
              <a:t>el siguiente nivel de construcción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LA PRUEBA DE QUE EL MÉTODO FUNCIONA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926080" cy="2377440"/>
          </a:xfrm>
          <a:prstGeom prst="roundRect">
            <a:avLst>
              <a:gd name="adj" fmla="val 10000"/>
            </a:avLst>
          </a:prstGeom>
          <a:solidFill>
            <a:srgbClr val="C13F26"/>
          </a:solidFill>
          <a:ln w="15875">
            <a:solidFill>
              <a:srgbClr val="C13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182880"/>
          <a:lstStyle/>
          <a:p>
            <a:pPr algn="ctr"/>
            <a:r>
              <a:rPr sz="7000" b="1">
                <a:solidFill>
                  <a:srgbClr val="FFFFFF"/>
                </a:solidFill>
                <a:latin typeface="Fredoka"/>
              </a:rPr>
              <a:t>6</a:t>
            </a:r>
          </a:p>
          <a:p>
            <a:r>
              <a:rPr sz="1250">
                <a:solidFill>
                  <a:srgbClr val="FFFFFF"/>
                </a:solidFill>
                <a:latin typeface="Inter"/>
              </a:rPr>
              <a:t>fallas reales, encontradas por el mismo método que construí para encontrarlas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463040"/>
            <a:ext cx="78638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7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550">
                <a:solidFill>
                  <a:srgbClr val="2D2D2D"/>
                </a:solidFill>
                <a:latin typeface="Inter"/>
              </a:rPr>
              <a:t>Una de ellas: cerrar la sesión a media venta habría perdido el registro en silencio. Casi el mismo miedo con el que empezó este proyecto, atrapado antes de llegar a Ana.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EVIDENCIA VISUAL DEL 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2D2D2D"/>
                </a:solidFill>
                <a:latin typeface="Fredoka"/>
              </a:rPr>
              <a:t>Artefactos reales, no conceptos teóricos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00" b="1">
                <a:solidFill>
                  <a:srgbClr val="2D2D2D"/>
                </a:solidFill>
                <a:latin typeface="Fredoka"/>
              </a:rPr>
              <a:t>Fundación</a:t>
            </a:r>
          </a:p>
          <a:p>
            <a:r>
              <a:rPr sz="1050">
                <a:solidFill>
                  <a:srgbClr val="7A7370"/>
                </a:solidFill>
                <a:latin typeface="Inter"/>
              </a:rPr>
              <a:t>Visión y modelo del negocio, congelados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3774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00" b="1">
                <a:solidFill>
                  <a:srgbClr val="2D2D2D"/>
                </a:solidFill>
                <a:latin typeface="Fredoka"/>
              </a:rPr>
              <a:t>Registro de Decisiones</a:t>
            </a:r>
          </a:p>
          <a:p>
            <a:r>
              <a:rPr sz="1050">
                <a:solidFill>
                  <a:srgbClr val="7A7370"/>
                </a:solidFill>
                <a:latin typeface="Inter"/>
              </a:rPr>
              <a:t>30 entradas, ninguna borrada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3774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00" b="1">
                <a:solidFill>
                  <a:srgbClr val="2D2D2D"/>
                </a:solidFill>
                <a:latin typeface="Fredoka"/>
              </a:rPr>
              <a:t>Kit de Experiencia</a:t>
            </a:r>
          </a:p>
          <a:p>
            <a:r>
              <a:rPr sz="1050">
                <a:solidFill>
                  <a:srgbClr val="7A7370"/>
                </a:solidFill>
                <a:latin typeface="Inter"/>
              </a:rPr>
              <a:t>El perfil real de 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3774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00" b="1">
                <a:solidFill>
                  <a:srgbClr val="2D2D2D"/>
                </a:solidFill>
                <a:latin typeface="Fredoka"/>
              </a:rPr>
              <a:t>Reportes de Experiencia</a:t>
            </a:r>
          </a:p>
          <a:p>
            <a:r>
              <a:rPr sz="1050">
                <a:solidFill>
                  <a:srgbClr val="7A7370"/>
                </a:solidFill>
                <a:latin typeface="Inter"/>
              </a:rPr>
              <a:t>Hallazgos documentados, uno por uno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00" b="1">
                <a:solidFill>
                  <a:srgbClr val="2D2D2D"/>
                </a:solidFill>
                <a:latin typeface="Fredoka"/>
              </a:rPr>
              <a:t>Bitácora</a:t>
            </a:r>
          </a:p>
          <a:p>
            <a:r>
              <a:rPr sz="1050">
                <a:solidFill>
                  <a:srgbClr val="7A7370"/>
                </a:solidFill>
                <a:latin typeface="Inter"/>
              </a:rPr>
              <a:t>La memoria permanente del proyecto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7947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00" b="1">
                <a:solidFill>
                  <a:srgbClr val="2D2D2D"/>
                </a:solidFill>
                <a:latin typeface="Fredoka"/>
              </a:rPr>
              <a:t>Arquitectura</a:t>
            </a:r>
          </a:p>
          <a:p>
            <a:r>
              <a:rPr sz="1050">
                <a:solidFill>
                  <a:srgbClr val="7A7370"/>
                </a:solidFill>
                <a:latin typeface="Inter"/>
              </a:rPr>
              <a:t>Confirmada lista para construirse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7947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913632"/>
            <a:ext cx="464834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78040" y="3977639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D2D2D"/>
                </a:solidFill>
                <a:latin typeface="Fredoka"/>
              </a:rPr>
              <a:t>Figma
Pantallas reales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37947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3913632"/>
            <a:ext cx="464834" cy="1005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75520" y="3977639"/>
            <a:ext cx="1188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D2D2D"/>
                </a:solidFill>
                <a:latin typeface="Fredoka"/>
              </a:rPr>
              <a:t>Evidencia
de validación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5603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017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7370"/>
                </a:solidFill>
                <a:latin typeface="Fredoka"/>
              </a:rPr>
              <a:t>Nahui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7A7370"/>
                </a:solidFill>
                <a:latin typeface="Inter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13F26"/>
                </a:solidFill>
                <a:latin typeface="Inter"/>
              </a:rPr>
              <a:t>POR QUÉ EL PROYECTO ESTÁ LISTO PARA ALTA FIDELIDAD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D2D2D"/>
                </a:solidFill>
                <a:latin typeface="Fredoka"/>
              </a:rPr>
              <a:t>No porque el diseño esté terminado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13F26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7A7370"/>
                </a:solidFill>
                <a:latin typeface="Inter"/>
              </a:rPr>
              <a:t>El modelo del negocio, confirmado como listo para construirse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13F26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7A7370"/>
                </a:solidFill>
                <a:latin typeface="Inter"/>
              </a:rPr>
              <a:t>Las seis experiencias, validadas con un método ya probado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13F26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7A7370"/>
                </a:solidFill>
                <a:latin typeface="Inter"/>
              </a:rPr>
              <a:t>Lo que queda abierto son decisiones de negocio, no dudas técnicas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920240"/>
            <a:ext cx="94484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2D2D2D"/>
                </a:solidFill>
                <a:latin typeface="Fredoka"/>
              </a:rPr>
              <a:t>El verdadero avance no fue solo diseñar Nahui.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40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7A7370"/>
                </a:solidFill>
                <a:latin typeface="Inter"/>
              </a:rPr>
              <a:t>Fue construir una forma de diseñarla, validarla y gobernarla con evidencia real, para que Ana la sienta y no solo para que funcione.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1">
                <a:solidFill>
                  <a:srgbClr val="A72C2C"/>
                </a:solidFill>
                <a:latin typeface="Fredoka"/>
              </a:rPr>
              <a:t>"The path to what's next."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